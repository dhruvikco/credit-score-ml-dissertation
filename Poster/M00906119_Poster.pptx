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56" r:id="rId5"/>
  </p:sldIdLst>
  <p:sldSz cx="32042100" cy="45300900"/>
  <p:notesSz cx="6858000" cy="9144000"/>
  <p:defaultTextStyle>
    <a:defPPr>
      <a:defRPr lang="en-GB"/>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4268">
          <p15:clr>
            <a:srgbClr val="A4A3A4"/>
          </p15:clr>
        </p15:guide>
        <p15:guide id="2" pos="1009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00FFCC"/>
    <a:srgbClr val="CC0099"/>
    <a:srgbClr val="FFFF00"/>
    <a:srgbClr val="33CCCC"/>
    <a:srgbClr val="0099CC"/>
    <a:srgbClr val="006699"/>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82" autoAdjust="0"/>
    <p:restoredTop sz="90107" autoAdjust="0"/>
  </p:normalViewPr>
  <p:slideViewPr>
    <p:cSldViewPr>
      <p:cViewPr>
        <p:scale>
          <a:sx n="58" d="100"/>
          <a:sy n="58" d="100"/>
        </p:scale>
        <p:origin x="144" y="-10432"/>
      </p:cViewPr>
      <p:guideLst>
        <p:guide orient="horz" pos="14268"/>
        <p:guide pos="10092"/>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2" d="100"/>
          <a:sy n="52" d="100"/>
        </p:scale>
        <p:origin x="-2716" y="-8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endParaRPr lang="en-GB" altLang="en-US"/>
          </a:p>
        </p:txBody>
      </p:sp>
      <p:sp>
        <p:nvSpPr>
          <p:cNvPr id="6147"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endParaRPr lang="en-GB" altLang="en-US"/>
          </a:p>
        </p:txBody>
      </p:sp>
      <p:sp>
        <p:nvSpPr>
          <p:cNvPr id="6148"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endParaRPr lang="en-GB" altLang="en-US"/>
          </a:p>
        </p:txBody>
      </p:sp>
      <p:sp>
        <p:nvSpPr>
          <p:cNvPr id="6149"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fld id="{D4C7BC53-BB81-499B-AA34-B18200DED59D}" type="slidenum">
              <a:rPr lang="en-GB" altLang="en-US"/>
              <a:pPr/>
              <a:t>‹#›</a:t>
            </a:fld>
            <a:endParaRPr lang="en-GB" altLang="en-US"/>
          </a:p>
        </p:txBody>
      </p:sp>
    </p:spTree>
    <p:extLst>
      <p:ext uri="{BB962C8B-B14F-4D97-AF65-F5344CB8AC3E}">
        <p14:creationId xmlns:p14="http://schemas.microsoft.com/office/powerpoint/2010/main" val="17838451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endParaRPr lang="en-GB" altLang="en-US"/>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endParaRPr lang="en-GB" altLang="en-US"/>
          </a:p>
        </p:txBody>
      </p:sp>
      <p:sp>
        <p:nvSpPr>
          <p:cNvPr id="4100" name="Rectangle 4"/>
          <p:cNvSpPr>
            <a:spLocks noGrp="1" noRot="1" noChangeAspect="1" noChangeArrowheads="1" noTextEdit="1"/>
          </p:cNvSpPr>
          <p:nvPr>
            <p:ph type="sldImg" idx="2"/>
          </p:nvPr>
        </p:nvSpPr>
        <p:spPr bwMode="auto">
          <a:xfrm>
            <a:off x="2216150" y="685800"/>
            <a:ext cx="24257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endParaRPr lang="en-GB" alt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fld id="{9F8619A3-91C6-4247-9EF9-DF2144ABAB1B}" type="slidenum">
              <a:rPr lang="en-GB" altLang="en-US"/>
              <a:pPr/>
              <a:t>‹#›</a:t>
            </a:fld>
            <a:endParaRPr lang="en-GB" altLang="en-US"/>
          </a:p>
        </p:txBody>
      </p:sp>
    </p:spTree>
    <p:extLst>
      <p:ext uri="{BB962C8B-B14F-4D97-AF65-F5344CB8AC3E}">
        <p14:creationId xmlns:p14="http://schemas.microsoft.com/office/powerpoint/2010/main" val="319587370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9CFA57-E7D5-4A30-88EE-0F5A73439A1D}" type="slidenum">
              <a:rPr lang="en-GB" altLang="en-US"/>
              <a:pPr/>
              <a:t>1</a:t>
            </a:fld>
            <a:endParaRPr lang="en-GB" altLang="en-US"/>
          </a:p>
        </p:txBody>
      </p:sp>
      <p:sp>
        <p:nvSpPr>
          <p:cNvPr id="5122" name="Rectangle 2"/>
          <p:cNvSpPr>
            <a:spLocks noGrp="1" noRot="1" noChangeAspect="1" noChangeArrowheads="1" noTextEdit="1"/>
          </p:cNvSpPr>
          <p:nvPr>
            <p:ph type="sldImg"/>
          </p:nvPr>
        </p:nvSpPr>
        <p:spPr>
          <a:ln/>
        </p:spPr>
      </p:sp>
      <p:sp>
        <p:nvSpPr>
          <p:cNvPr id="5123" name="Rectangle 3"/>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03475" y="14073188"/>
            <a:ext cx="27235150" cy="9709150"/>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1297680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01788" y="1814513"/>
            <a:ext cx="28838525" cy="7550150"/>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1601788" y="10569575"/>
            <a:ext cx="28838525" cy="298973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0594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30475" y="29109988"/>
            <a:ext cx="27236738" cy="8997950"/>
          </a:xfrm>
          <a:prstGeom prst="rect">
            <a:avLst/>
          </a:prstGeo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2530475" y="19200813"/>
            <a:ext cx="27236738" cy="99091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2269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01788" y="1814513"/>
            <a:ext cx="28838525" cy="7550150"/>
          </a:xfrm>
          <a:prstGeom prst="rect">
            <a:avLst/>
          </a:prstGeom>
        </p:spPr>
        <p:txBody>
          <a:bodyPr/>
          <a:lstStyle/>
          <a:p>
            <a:r>
              <a:rPr lang="en-US"/>
              <a:t>Click to edit Master title style</a:t>
            </a:r>
            <a:endParaRPr lang="en-GB"/>
          </a:p>
        </p:txBody>
      </p:sp>
      <p:sp>
        <p:nvSpPr>
          <p:cNvPr id="3" name="Content Placeholder 2"/>
          <p:cNvSpPr>
            <a:spLocks noGrp="1"/>
          </p:cNvSpPr>
          <p:nvPr>
            <p:ph sz="half" idx="1"/>
          </p:nvPr>
        </p:nvSpPr>
        <p:spPr>
          <a:xfrm>
            <a:off x="1601788" y="10569575"/>
            <a:ext cx="14343062" cy="2989738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6097250" y="10569575"/>
            <a:ext cx="14343063" cy="2989738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362856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01788" y="1814513"/>
            <a:ext cx="28838525" cy="7550150"/>
          </a:xfrm>
          <a:prstGeom prst="rect">
            <a:avLst/>
          </a:prstGeo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1601788" y="10140950"/>
            <a:ext cx="14157325" cy="42259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01788" y="14366875"/>
            <a:ext cx="14157325" cy="261000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16276638" y="10140950"/>
            <a:ext cx="14163675" cy="42259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6276638" y="14366875"/>
            <a:ext cx="14163675" cy="261000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14233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01788" y="1814513"/>
            <a:ext cx="28838525" cy="7550150"/>
          </a:xfrm>
          <a:prstGeom prst="rect">
            <a:avLst/>
          </a:prstGeom>
        </p:spPr>
        <p:txBody>
          <a:bodyPr/>
          <a:lstStyle/>
          <a:p>
            <a:r>
              <a:rPr lang="en-US"/>
              <a:t>Click to edit Master title style</a:t>
            </a:r>
            <a:endParaRPr lang="en-GB"/>
          </a:p>
        </p:txBody>
      </p:sp>
    </p:spTree>
    <p:extLst>
      <p:ext uri="{BB962C8B-B14F-4D97-AF65-F5344CB8AC3E}">
        <p14:creationId xmlns:p14="http://schemas.microsoft.com/office/powerpoint/2010/main" val="388578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1905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01788" y="1803400"/>
            <a:ext cx="10542587" cy="7675563"/>
          </a:xfrm>
          <a:prstGeom prst="rect">
            <a:avLst/>
          </a:prstGeo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12526963" y="1803400"/>
            <a:ext cx="17913350" cy="3866356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1601788" y="9478963"/>
            <a:ext cx="10542587" cy="309880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84863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80150" y="31710313"/>
            <a:ext cx="19226213" cy="3743325"/>
          </a:xfrm>
          <a:prstGeom prst="rect">
            <a:avLst/>
          </a:prstGeo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6280150" y="4048125"/>
            <a:ext cx="19226213" cy="2717958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280150" y="35453638"/>
            <a:ext cx="19226213" cy="53165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31856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01788" y="1814513"/>
            <a:ext cx="28838525" cy="7550150"/>
          </a:xfrm>
          <a:prstGeom prst="rect">
            <a:avLst/>
          </a:prstGeo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1601788" y="10569575"/>
            <a:ext cx="28838525" cy="2989738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178852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231475" y="1814513"/>
            <a:ext cx="7208838" cy="38652450"/>
          </a:xfrm>
          <a:prstGeom prst="rect">
            <a:avLst/>
          </a:prstGeo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601788" y="1814513"/>
            <a:ext cx="21477287" cy="3865245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2453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419600" rtl="0" fontAlgn="base">
        <a:spcBef>
          <a:spcPct val="0"/>
        </a:spcBef>
        <a:spcAft>
          <a:spcPct val="0"/>
        </a:spcAft>
        <a:defRPr sz="21300">
          <a:solidFill>
            <a:schemeClr val="tx2"/>
          </a:solidFill>
          <a:latin typeface="+mj-lt"/>
          <a:ea typeface="+mj-ea"/>
          <a:cs typeface="+mj-cs"/>
        </a:defRPr>
      </a:lvl1pPr>
      <a:lvl2pPr algn="ctr" defTabSz="4419600" rtl="0" fontAlgn="base">
        <a:spcBef>
          <a:spcPct val="0"/>
        </a:spcBef>
        <a:spcAft>
          <a:spcPct val="0"/>
        </a:spcAft>
        <a:defRPr sz="21300">
          <a:solidFill>
            <a:schemeClr val="tx2"/>
          </a:solidFill>
          <a:latin typeface="Times New Roman" pitchFamily="18" charset="0"/>
        </a:defRPr>
      </a:lvl2pPr>
      <a:lvl3pPr algn="ctr" defTabSz="4419600" rtl="0" fontAlgn="base">
        <a:spcBef>
          <a:spcPct val="0"/>
        </a:spcBef>
        <a:spcAft>
          <a:spcPct val="0"/>
        </a:spcAft>
        <a:defRPr sz="21300">
          <a:solidFill>
            <a:schemeClr val="tx2"/>
          </a:solidFill>
          <a:latin typeface="Times New Roman" pitchFamily="18" charset="0"/>
        </a:defRPr>
      </a:lvl3pPr>
      <a:lvl4pPr algn="ctr" defTabSz="4419600" rtl="0" fontAlgn="base">
        <a:spcBef>
          <a:spcPct val="0"/>
        </a:spcBef>
        <a:spcAft>
          <a:spcPct val="0"/>
        </a:spcAft>
        <a:defRPr sz="21300">
          <a:solidFill>
            <a:schemeClr val="tx2"/>
          </a:solidFill>
          <a:latin typeface="Times New Roman" pitchFamily="18" charset="0"/>
        </a:defRPr>
      </a:lvl4pPr>
      <a:lvl5pPr algn="ctr" defTabSz="4419600" rtl="0" fontAlgn="base">
        <a:spcBef>
          <a:spcPct val="0"/>
        </a:spcBef>
        <a:spcAft>
          <a:spcPct val="0"/>
        </a:spcAft>
        <a:defRPr sz="21300">
          <a:solidFill>
            <a:schemeClr val="tx2"/>
          </a:solidFill>
          <a:latin typeface="Times New Roman" pitchFamily="18" charset="0"/>
        </a:defRPr>
      </a:lvl5pPr>
      <a:lvl6pPr marL="457200" algn="ctr" defTabSz="4419600" rtl="0" fontAlgn="base">
        <a:spcBef>
          <a:spcPct val="0"/>
        </a:spcBef>
        <a:spcAft>
          <a:spcPct val="0"/>
        </a:spcAft>
        <a:defRPr sz="21300">
          <a:solidFill>
            <a:schemeClr val="tx2"/>
          </a:solidFill>
          <a:latin typeface="Times New Roman" pitchFamily="18" charset="0"/>
        </a:defRPr>
      </a:lvl6pPr>
      <a:lvl7pPr marL="914400" algn="ctr" defTabSz="4419600" rtl="0" fontAlgn="base">
        <a:spcBef>
          <a:spcPct val="0"/>
        </a:spcBef>
        <a:spcAft>
          <a:spcPct val="0"/>
        </a:spcAft>
        <a:defRPr sz="21300">
          <a:solidFill>
            <a:schemeClr val="tx2"/>
          </a:solidFill>
          <a:latin typeface="Times New Roman" pitchFamily="18" charset="0"/>
        </a:defRPr>
      </a:lvl7pPr>
      <a:lvl8pPr marL="1371600" algn="ctr" defTabSz="4419600" rtl="0" fontAlgn="base">
        <a:spcBef>
          <a:spcPct val="0"/>
        </a:spcBef>
        <a:spcAft>
          <a:spcPct val="0"/>
        </a:spcAft>
        <a:defRPr sz="21300">
          <a:solidFill>
            <a:schemeClr val="tx2"/>
          </a:solidFill>
          <a:latin typeface="Times New Roman" pitchFamily="18" charset="0"/>
        </a:defRPr>
      </a:lvl8pPr>
      <a:lvl9pPr marL="1828800" algn="ctr" defTabSz="4419600" rtl="0" fontAlgn="base">
        <a:spcBef>
          <a:spcPct val="0"/>
        </a:spcBef>
        <a:spcAft>
          <a:spcPct val="0"/>
        </a:spcAft>
        <a:defRPr sz="21300">
          <a:solidFill>
            <a:schemeClr val="tx2"/>
          </a:solidFill>
          <a:latin typeface="Times New Roman" pitchFamily="18" charset="0"/>
        </a:defRPr>
      </a:lvl9pPr>
    </p:titleStyle>
    <p:bodyStyle>
      <a:lvl1pPr marL="1657350" indent="-1657350" algn="l" defTabSz="4419600" rtl="0" fontAlgn="base">
        <a:spcBef>
          <a:spcPct val="20000"/>
        </a:spcBef>
        <a:spcAft>
          <a:spcPct val="0"/>
        </a:spcAft>
        <a:buChar char="•"/>
        <a:defRPr sz="15500">
          <a:solidFill>
            <a:schemeClr val="tx1"/>
          </a:solidFill>
          <a:latin typeface="+mn-lt"/>
          <a:ea typeface="+mn-ea"/>
          <a:cs typeface="+mn-cs"/>
        </a:defRPr>
      </a:lvl1pPr>
      <a:lvl2pPr marL="3590925" indent="-1381125" algn="l" defTabSz="4419600" rtl="0" fontAlgn="base">
        <a:spcBef>
          <a:spcPct val="20000"/>
        </a:spcBef>
        <a:spcAft>
          <a:spcPct val="0"/>
        </a:spcAft>
        <a:buChar char="–"/>
        <a:defRPr sz="13500">
          <a:solidFill>
            <a:schemeClr val="tx1"/>
          </a:solidFill>
          <a:latin typeface="+mn-lt"/>
        </a:defRPr>
      </a:lvl2pPr>
      <a:lvl3pPr marL="5524500" indent="-1104900" algn="l" defTabSz="4419600" rtl="0" fontAlgn="base">
        <a:spcBef>
          <a:spcPct val="20000"/>
        </a:spcBef>
        <a:spcAft>
          <a:spcPct val="0"/>
        </a:spcAft>
        <a:buChar char="•"/>
        <a:defRPr sz="11600">
          <a:solidFill>
            <a:schemeClr val="tx1"/>
          </a:solidFill>
          <a:latin typeface="+mn-lt"/>
        </a:defRPr>
      </a:lvl3pPr>
      <a:lvl4pPr marL="7734300" indent="-1104900" algn="l" defTabSz="4419600" rtl="0" fontAlgn="base">
        <a:spcBef>
          <a:spcPct val="20000"/>
        </a:spcBef>
        <a:spcAft>
          <a:spcPct val="0"/>
        </a:spcAft>
        <a:buChar char="–"/>
        <a:defRPr sz="9700">
          <a:solidFill>
            <a:schemeClr val="tx1"/>
          </a:solidFill>
          <a:latin typeface="+mn-lt"/>
        </a:defRPr>
      </a:lvl4pPr>
      <a:lvl5pPr marL="9944100" indent="-1104900" algn="l" defTabSz="4419600" rtl="0" fontAlgn="base">
        <a:spcBef>
          <a:spcPct val="20000"/>
        </a:spcBef>
        <a:spcAft>
          <a:spcPct val="0"/>
        </a:spcAft>
        <a:buChar char="»"/>
        <a:defRPr sz="9700">
          <a:solidFill>
            <a:schemeClr val="tx1"/>
          </a:solidFill>
          <a:latin typeface="+mn-lt"/>
        </a:defRPr>
      </a:lvl5pPr>
      <a:lvl6pPr marL="10401300" indent="-1104900" algn="l" defTabSz="4419600" rtl="0" fontAlgn="base">
        <a:spcBef>
          <a:spcPct val="20000"/>
        </a:spcBef>
        <a:spcAft>
          <a:spcPct val="0"/>
        </a:spcAft>
        <a:buChar char="»"/>
        <a:defRPr sz="9700">
          <a:solidFill>
            <a:schemeClr val="tx1"/>
          </a:solidFill>
          <a:latin typeface="+mn-lt"/>
        </a:defRPr>
      </a:lvl6pPr>
      <a:lvl7pPr marL="10858500" indent="-1104900" algn="l" defTabSz="4419600" rtl="0" fontAlgn="base">
        <a:spcBef>
          <a:spcPct val="20000"/>
        </a:spcBef>
        <a:spcAft>
          <a:spcPct val="0"/>
        </a:spcAft>
        <a:buChar char="»"/>
        <a:defRPr sz="9700">
          <a:solidFill>
            <a:schemeClr val="tx1"/>
          </a:solidFill>
          <a:latin typeface="+mn-lt"/>
        </a:defRPr>
      </a:lvl7pPr>
      <a:lvl8pPr marL="11315700" indent="-1104900" algn="l" defTabSz="4419600" rtl="0" fontAlgn="base">
        <a:spcBef>
          <a:spcPct val="20000"/>
        </a:spcBef>
        <a:spcAft>
          <a:spcPct val="0"/>
        </a:spcAft>
        <a:buChar char="»"/>
        <a:defRPr sz="9700">
          <a:solidFill>
            <a:schemeClr val="tx1"/>
          </a:solidFill>
          <a:latin typeface="+mn-lt"/>
        </a:defRPr>
      </a:lvl8pPr>
      <a:lvl9pPr marL="11772900" indent="-1104900" algn="l" defTabSz="4419600" rtl="0" fontAlgn="base">
        <a:spcBef>
          <a:spcPct val="20000"/>
        </a:spcBef>
        <a:spcAft>
          <a:spcPct val="0"/>
        </a:spcAft>
        <a:buChar char="»"/>
        <a:defRPr sz="97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 name="Text Box 30"/>
          <p:cNvSpPr txBox="1">
            <a:spLocks noChangeArrowheads="1"/>
          </p:cNvSpPr>
          <p:nvPr/>
        </p:nvSpPr>
        <p:spPr bwMode="auto">
          <a:xfrm>
            <a:off x="952314" y="3267055"/>
            <a:ext cx="1370089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5400" b="1" dirty="0">
                <a:solidFill>
                  <a:schemeClr val="accent2">
                    <a:lumMod val="60000"/>
                    <a:lumOff val="40000"/>
                  </a:schemeClr>
                </a:solidFill>
                <a:effectLst>
                  <a:outerShdw blurRad="38100" dist="38100" dir="2700000" algn="tl">
                    <a:srgbClr val="C0C0C0"/>
                  </a:outerShdw>
                </a:effectLst>
              </a:rPr>
              <a:t>Introduction</a:t>
            </a:r>
          </a:p>
        </p:txBody>
      </p:sp>
      <p:sp>
        <p:nvSpPr>
          <p:cNvPr id="2079" name="Rectangle 31"/>
          <p:cNvSpPr>
            <a:spLocks noChangeArrowheads="1"/>
          </p:cNvSpPr>
          <p:nvPr/>
        </p:nvSpPr>
        <p:spPr bwMode="auto">
          <a:xfrm>
            <a:off x="952314" y="4223318"/>
            <a:ext cx="1409700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en-GB" sz="2000" dirty="0"/>
              <a:t>While the In today's rapidly evolving financial landscape, the significance of credit evaluations cannot be understated. These evaluations serve as evidence of a person's financial credibility and affect everything from loan approvals to employment opportunities. Traditional methods, though time-tested, are exhibiting signs of strain in the face of the complexity of modern financial behaviours. The aforementioned lack of efficiency served as an inspiration for my journey into the field of machine learning, which is widely recognised for its capacity to analyse data and adjust accordingly. </a:t>
            </a:r>
          </a:p>
          <a:p>
            <a:pPr algn="just">
              <a:spcBef>
                <a:spcPct val="50000"/>
              </a:spcBef>
            </a:pPr>
            <a:r>
              <a:rPr lang="en-GB" sz="2000" dirty="0"/>
              <a:t>The beginning of my journey was marked by a distinct objective: Can the application of machine learning bring about a transformative impact on the process of credit evaluation? This dissertation details my in-depth exploration of the world of credit scores through the lens of machine learning. The development of a predictive tool, appropriately titled "Credit Check Approval with Accurate Decision-Making System Using Machine Learning Techniques," was central to my research.</a:t>
            </a:r>
          </a:p>
          <a:p>
            <a:pPr algn="just">
              <a:spcBef>
                <a:spcPct val="50000"/>
              </a:spcBef>
            </a:pPr>
            <a:r>
              <a:rPr lang="en-GB" sz="2000" dirty="0"/>
              <a:t>Through extensive data analysis and rigorous machine learning methodologies, I endeavoured to provide answers to important queries. Can the implementation of machine learning models, specifically the Random Forest Classifier, improve the accuracy of credit assessments? What are the wider implications of this change in strategy for the global financial sector? The results were insightful and encouraging. The accuracy rate of 80.7% in creditworthiness prediction is more than simply a numerical value. It serves as a confirmation of the transformative potential of machine learning in reshaping the assessment of creditworthiness. As you traverse this poster, I ask you to immerse yourself in my journey, investigate the insights gained, and imagine a future in which credit evaluations are more than simply data points, but intelligent, adaptable, and forward-thinking assessments.</a:t>
            </a:r>
          </a:p>
        </p:txBody>
      </p:sp>
      <p:sp>
        <p:nvSpPr>
          <p:cNvPr id="2080" name="Text Box 32"/>
          <p:cNvSpPr txBox="1">
            <a:spLocks noChangeArrowheads="1"/>
          </p:cNvSpPr>
          <p:nvPr/>
        </p:nvSpPr>
        <p:spPr bwMode="auto">
          <a:xfrm>
            <a:off x="347356" y="21985997"/>
            <a:ext cx="961032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5400" b="1" dirty="0">
                <a:solidFill>
                  <a:schemeClr val="accent2">
                    <a:lumMod val="60000"/>
                    <a:lumOff val="40000"/>
                  </a:schemeClr>
                </a:solidFill>
                <a:effectLst>
                  <a:outerShdw blurRad="38100" dist="38100" dir="2700000" algn="tl">
                    <a:srgbClr val="C0C0C0"/>
                  </a:outerShdw>
                </a:effectLst>
              </a:rPr>
              <a:t>Why Machine Learning(ML)?</a:t>
            </a:r>
          </a:p>
        </p:txBody>
      </p:sp>
      <p:sp>
        <p:nvSpPr>
          <p:cNvPr id="2116" name="Text Box 68"/>
          <p:cNvSpPr txBox="1">
            <a:spLocks noChangeArrowheads="1"/>
          </p:cNvSpPr>
          <p:nvPr/>
        </p:nvSpPr>
        <p:spPr bwMode="auto">
          <a:xfrm>
            <a:off x="4087800" y="663150"/>
            <a:ext cx="1933341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IN" sz="6000" b="1" i="1" dirty="0">
                <a:solidFill>
                  <a:schemeClr val="accent2">
                    <a:lumMod val="60000"/>
                    <a:lumOff val="40000"/>
                  </a:schemeClr>
                </a:solidFill>
                <a:effectLst/>
                <a:latin typeface="Arial" panose="020B0604020202020204" pitchFamily="34" charset="0"/>
                <a:ea typeface="Times New Roman" panose="02020603050405020304" pitchFamily="18" charset="0"/>
                <a:cs typeface="Arial" panose="020B0604020202020204" pitchFamily="34" charset="0"/>
              </a:rPr>
              <a:t>Credit Check Approval with an Accurate Decision Making System Using Machine Learning Methods</a:t>
            </a:r>
            <a:endParaRPr lang="en-IN" sz="6000" dirty="0">
              <a:solidFill>
                <a:schemeClr val="accent2">
                  <a:lumMod val="60000"/>
                  <a:lumOff val="40000"/>
                </a:schemeClr>
              </a:solidFill>
              <a:effectLst/>
              <a:latin typeface="Arial" panose="020B0604020202020204" pitchFamily="34" charset="0"/>
              <a:ea typeface="Times New Roman" panose="02020603050405020304" pitchFamily="18" charset="0"/>
              <a:cs typeface="Arial" panose="020B0604020202020204" pitchFamily="34" charset="0"/>
            </a:endParaRPr>
          </a:p>
        </p:txBody>
      </p:sp>
      <p:sp>
        <p:nvSpPr>
          <p:cNvPr id="2218" name="Text Box 170"/>
          <p:cNvSpPr txBox="1">
            <a:spLocks noChangeArrowheads="1"/>
          </p:cNvSpPr>
          <p:nvPr/>
        </p:nvSpPr>
        <p:spPr bwMode="auto">
          <a:xfrm>
            <a:off x="347356" y="23127693"/>
            <a:ext cx="14650162" cy="9941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en-US" sz="2000" dirty="0"/>
              <a:t>Choosing Machine Learning (ML) as the focus of your dissertation, titled "Credit Check Approval with an Accurate Decision Making System Using Machine Learning Methods," is a strategic and forward-thinking decision. There are several convincing justifications for considering machine learning (ML) as a highly suitable option for research activities.</a:t>
            </a:r>
          </a:p>
          <a:p>
            <a:pPr algn="just">
              <a:spcBef>
                <a:spcPct val="50000"/>
              </a:spcBef>
            </a:pPr>
            <a:r>
              <a:rPr lang="en-US" sz="2000" dirty="0">
                <a:solidFill>
                  <a:srgbClr val="3333FF"/>
                </a:solidFill>
              </a:rPr>
              <a:t>Complexity of Financial Data</a:t>
            </a:r>
            <a:r>
              <a:rPr lang="en-US" sz="2000" dirty="0"/>
              <a:t>: Today's financial data has many parts and dimensions. It includes a lot of different factors, from past transactions and credit scores to socioeconomic factors and events in the outside world. Machine learning (ML) is very suitable for managing the intricacy of this data, as it offers a comprehensive perspective on an individual's creditworthiness.</a:t>
            </a:r>
          </a:p>
          <a:p>
            <a:pPr algn="just">
              <a:spcBef>
                <a:spcPct val="50000"/>
              </a:spcBef>
            </a:pPr>
            <a:r>
              <a:rPr lang="en-US" sz="2000" dirty="0">
                <a:solidFill>
                  <a:srgbClr val="3333FF"/>
                </a:solidFill>
              </a:rPr>
              <a:t>Recognising Patterns</a:t>
            </a:r>
            <a:r>
              <a:rPr lang="en-US" sz="2000" dirty="0"/>
              <a:t>: Machine learning is very good at finding patterns and making predictions. Within the field of credit evaluation, it possesses the capability to recognize complex data patterns that may not be readily discernible by conventional statistical methodologies. This particular capacity facilitates the enhancement of credit scoring accuracy and sophistication.</a:t>
            </a:r>
          </a:p>
          <a:p>
            <a:pPr algn="just">
              <a:spcBef>
                <a:spcPct val="50000"/>
              </a:spcBef>
            </a:pPr>
            <a:r>
              <a:rPr lang="en-US" sz="2000" dirty="0">
                <a:solidFill>
                  <a:srgbClr val="3333FF"/>
                </a:solidFill>
              </a:rPr>
              <a:t>Adaptability</a:t>
            </a:r>
            <a:r>
              <a:rPr lang="en-US" sz="2000" dirty="0"/>
              <a:t>: Older credit score methods often use set sets of historical data and assumptions that don't change. In contrast, machine learning models possess the ability to adapt and undergo constant updates through the incorporation of fresh data. Organizations have the capacity to adapt and develop in tandem with dynamic economic environments and shifting consumer patterns, so guaranteeing their continued pertinence and precision across time.</a:t>
            </a:r>
          </a:p>
          <a:p>
            <a:pPr algn="just">
              <a:spcBef>
                <a:spcPct val="50000"/>
              </a:spcBef>
            </a:pPr>
            <a:r>
              <a:rPr lang="en-US" sz="2000" dirty="0">
                <a:solidFill>
                  <a:srgbClr val="3333FF"/>
                </a:solidFill>
              </a:rPr>
              <a:t>Granularity</a:t>
            </a:r>
            <a:r>
              <a:rPr lang="en-US" sz="2000" dirty="0"/>
              <a:t>: ML models can work with data that has a lot of dimensions. The credit evaluation process has the capacity to integrate a wide range of variables, encompassing both quantitative and qualitative factors. This facilitates a more extensive and intricate evaluation of an individual's ability to repay debts.</a:t>
            </a:r>
          </a:p>
          <a:p>
            <a:pPr algn="just">
              <a:spcBef>
                <a:spcPct val="50000"/>
              </a:spcBef>
            </a:pPr>
            <a:r>
              <a:rPr lang="en-US" sz="2000" dirty="0">
                <a:solidFill>
                  <a:srgbClr val="3333FF"/>
                </a:solidFill>
              </a:rPr>
              <a:t>Probabilistic Decision Boundaries</a:t>
            </a:r>
            <a:r>
              <a:rPr lang="en-US" sz="2000" dirty="0"/>
              <a:t>: ML models, especially those that are based on probabilistic frameworks, have "soft decision boundaries." Instead of offering inflexible binary results, they present a range of probabilities for different levels of risk. The adoption of this complex technique facilitates a more sophisticated evaluation of credit risk.</a:t>
            </a:r>
          </a:p>
          <a:p>
            <a:pPr algn="just">
              <a:spcBef>
                <a:spcPct val="50000"/>
              </a:spcBef>
            </a:pPr>
            <a:r>
              <a:rPr lang="en-US" sz="2000" dirty="0">
                <a:solidFill>
                  <a:srgbClr val="3333FF"/>
                </a:solidFill>
              </a:rPr>
              <a:t>Bias Mitigation</a:t>
            </a:r>
            <a:r>
              <a:rPr lang="en-US" sz="2000" dirty="0"/>
              <a:t>: Machine learning models have the potential to be intentionally constructed and trained in order to mitigate biases. Methods such as fairness regularization and meticulous data pretreatment can contribute to enhancing the fairness and reducing the likelihood of biased outcomes in credit assessments.</a:t>
            </a:r>
          </a:p>
          <a:p>
            <a:pPr algn="just">
              <a:spcBef>
                <a:spcPct val="50000"/>
              </a:spcBef>
            </a:pPr>
            <a:r>
              <a:rPr lang="en-US" sz="2000" dirty="0">
                <a:solidFill>
                  <a:srgbClr val="3333FF"/>
                </a:solidFill>
              </a:rPr>
              <a:t>Efficiency</a:t>
            </a:r>
            <a:r>
              <a:rPr lang="en-US" sz="2000" dirty="0"/>
              <a:t>: Machine learning models can make the process of evaluating credit more automated, so reviews don't have to be done by hand as often. This phenomenon has the potential to enhance operational effectiveness and expedite the process of making decisions, so yielding advantages for both the entities providing loans and those receiving them.</a:t>
            </a:r>
          </a:p>
          <a:p>
            <a:pPr algn="just">
              <a:spcBef>
                <a:spcPct val="50000"/>
              </a:spcBef>
            </a:pPr>
            <a:r>
              <a:rPr lang="en-US" sz="2000" dirty="0">
                <a:solidFill>
                  <a:srgbClr val="3333FF"/>
                </a:solidFill>
              </a:rPr>
              <a:t>Alignment with Industry Trends</a:t>
            </a:r>
            <a:r>
              <a:rPr lang="en-US" sz="2000" dirty="0"/>
              <a:t>: ML is increasingly being adopted in the financial industry for various applications, including credit scoring. The research conducted is in line with current industry trends and aims to answer the demand for novel credit evaluation approaches.</a:t>
            </a:r>
          </a:p>
        </p:txBody>
      </p:sp>
      <p:pic>
        <p:nvPicPr>
          <p:cNvPr id="2222" name="Picture 174" descr="F:\0-Xiaohong-Files\1-Xiaohong-Files\5-Part-2-CV-Papers\0-Events+presentations\2017-Feb-7-8-EPSRC-Signal-processing-opputunities\Middlesex_University_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82840" y="417292"/>
            <a:ext cx="1742920" cy="211527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481953" y="2522960"/>
            <a:ext cx="18466354" cy="1126912"/>
          </a:xfrm>
          <a:prstGeom prst="rect">
            <a:avLst/>
          </a:prstGeom>
          <a:noFill/>
        </p:spPr>
        <p:txBody>
          <a:bodyPr wrap="square" rtlCol="0">
            <a:spAutoFit/>
          </a:bodyPr>
          <a:lstStyle/>
          <a:p>
            <a:pPr marL="12700" algn="ctr">
              <a:lnSpc>
                <a:spcPct val="100000"/>
              </a:lnSpc>
              <a:spcBef>
                <a:spcPts val="90"/>
              </a:spcBef>
            </a:pPr>
            <a:r>
              <a:rPr lang="en-IN" sz="2800" i="1" spc="-20" dirty="0" err="1">
                <a:solidFill>
                  <a:schemeClr val="accent1">
                    <a:lumMod val="75000"/>
                  </a:schemeClr>
                </a:solidFill>
                <a:latin typeface="Calibri"/>
                <a:cs typeface="Calibri"/>
              </a:rPr>
              <a:t>Dhruvik</a:t>
            </a:r>
            <a:r>
              <a:rPr lang="en-IN" sz="2800" i="1" spc="-20" dirty="0">
                <a:solidFill>
                  <a:schemeClr val="accent1">
                    <a:lumMod val="75000"/>
                  </a:schemeClr>
                </a:solidFill>
                <a:latin typeface="Calibri"/>
                <a:cs typeface="Calibri"/>
              </a:rPr>
              <a:t> Patel(M00906119)</a:t>
            </a:r>
            <a:r>
              <a:rPr lang="en-IN" sz="2800" i="1" spc="-5" dirty="0">
                <a:solidFill>
                  <a:schemeClr val="accent1">
                    <a:lumMod val="75000"/>
                  </a:schemeClr>
                </a:solidFill>
                <a:latin typeface="Calibri"/>
                <a:cs typeface="Calibri"/>
              </a:rPr>
              <a:t>, MSc</a:t>
            </a:r>
            <a:r>
              <a:rPr lang="en-IN" sz="2800" i="1" spc="-15" dirty="0">
                <a:solidFill>
                  <a:schemeClr val="accent1">
                    <a:lumMod val="75000"/>
                  </a:schemeClr>
                </a:solidFill>
                <a:latin typeface="Calibri"/>
                <a:cs typeface="Calibri"/>
              </a:rPr>
              <a:t> </a:t>
            </a:r>
            <a:r>
              <a:rPr lang="en-IN" sz="2800" i="1" spc="-20" dirty="0">
                <a:solidFill>
                  <a:schemeClr val="accent1">
                    <a:lumMod val="75000"/>
                  </a:schemeClr>
                </a:solidFill>
                <a:latin typeface="Calibri"/>
                <a:cs typeface="Calibri"/>
              </a:rPr>
              <a:t>Data </a:t>
            </a:r>
            <a:r>
              <a:rPr lang="en-IN" sz="2800" i="1" spc="-10" dirty="0">
                <a:solidFill>
                  <a:schemeClr val="accent1">
                    <a:lumMod val="75000"/>
                  </a:schemeClr>
                </a:solidFill>
                <a:latin typeface="Calibri"/>
                <a:cs typeface="Calibri"/>
              </a:rPr>
              <a:t>Science,</a:t>
            </a:r>
            <a:r>
              <a:rPr lang="en-IN" sz="2800" i="1" dirty="0">
                <a:solidFill>
                  <a:schemeClr val="accent1">
                    <a:lumMod val="75000"/>
                  </a:schemeClr>
                </a:solidFill>
                <a:latin typeface="Calibri"/>
                <a:cs typeface="Calibri"/>
              </a:rPr>
              <a:t> </a:t>
            </a:r>
            <a:r>
              <a:rPr lang="en-IN" sz="2800" i="1" spc="-15" dirty="0">
                <a:solidFill>
                  <a:schemeClr val="accent1">
                    <a:lumMod val="75000"/>
                  </a:schemeClr>
                </a:solidFill>
                <a:latin typeface="Calibri"/>
                <a:cs typeface="Calibri"/>
              </a:rPr>
              <a:t>Middlesex</a:t>
            </a:r>
            <a:r>
              <a:rPr lang="en-IN" sz="2800" i="1" spc="-5" dirty="0">
                <a:solidFill>
                  <a:schemeClr val="accent1">
                    <a:lumMod val="75000"/>
                  </a:schemeClr>
                </a:solidFill>
                <a:latin typeface="Calibri"/>
                <a:cs typeface="Calibri"/>
              </a:rPr>
              <a:t> </a:t>
            </a:r>
            <a:r>
              <a:rPr lang="en-IN" sz="2800" i="1" spc="-15" dirty="0">
                <a:solidFill>
                  <a:schemeClr val="accent1">
                    <a:lumMod val="75000"/>
                  </a:schemeClr>
                </a:solidFill>
                <a:latin typeface="Calibri"/>
                <a:cs typeface="Calibri"/>
              </a:rPr>
              <a:t>University.</a:t>
            </a:r>
            <a:endParaRPr lang="en-IN" sz="2800" dirty="0">
              <a:solidFill>
                <a:schemeClr val="accent1">
                  <a:lumMod val="75000"/>
                </a:schemeClr>
              </a:solidFill>
              <a:latin typeface="Calibri"/>
              <a:cs typeface="Calibri"/>
            </a:endParaRPr>
          </a:p>
          <a:p>
            <a:pPr marL="423545" marR="5080" algn="ctr">
              <a:lnSpc>
                <a:spcPct val="102200"/>
              </a:lnSpc>
              <a:spcBef>
                <a:spcPts val="1525"/>
              </a:spcBef>
            </a:pPr>
            <a:endParaRPr lang="en-GB" sz="2800" b="1" dirty="0">
              <a:solidFill>
                <a:schemeClr val="accent1">
                  <a:lumMod val="75000"/>
                </a:schemeClr>
              </a:solidFill>
            </a:endParaRPr>
          </a:p>
        </p:txBody>
      </p:sp>
      <p:sp>
        <p:nvSpPr>
          <p:cNvPr id="21" name="TextBox 20"/>
          <p:cNvSpPr txBox="1"/>
          <p:nvPr/>
        </p:nvSpPr>
        <p:spPr>
          <a:xfrm>
            <a:off x="15669886" y="40081391"/>
            <a:ext cx="14556842" cy="1938992"/>
          </a:xfrm>
          <a:prstGeom prst="rect">
            <a:avLst/>
          </a:prstGeom>
          <a:noFill/>
        </p:spPr>
        <p:txBody>
          <a:bodyPr wrap="square" rtlCol="0">
            <a:spAutoFit/>
          </a:bodyPr>
          <a:lstStyle/>
          <a:p>
            <a:pPr marL="342900" indent="-342900">
              <a:buFont typeface="+mj-lt"/>
              <a:buAutoNum type="arabicPeriod"/>
            </a:pPr>
            <a:r>
              <a:rPr lang="en-US" sz="2000" dirty="0">
                <a:effectLst/>
                <a:latin typeface="Arial" panose="020B0604020202020204" pitchFamily="34" charset="0"/>
                <a:ea typeface="Times New Roman" panose="02020603050405020304" pitchFamily="18" charset="0"/>
                <a:cs typeface="Arial" panose="020B0604020202020204" pitchFamily="34" charset="0"/>
              </a:rPr>
              <a:t>Chen, L., Wang, H., &amp; Zhou, Y. (2017) 'Importance of Financial Features in Credit Scoring: An Application of Random Forests', Quantitative Finance Review, vol. 45, no. 4, pp. 35-49.</a:t>
            </a:r>
            <a:endParaRPr lang="en-IN" sz="2000" dirty="0">
              <a:effectLst/>
              <a:latin typeface="Arial" panose="020B0604020202020204" pitchFamily="34" charset="0"/>
              <a:ea typeface="Times New Roman" panose="02020603050405020304" pitchFamily="18" charset="0"/>
              <a:cs typeface="Arial" panose="020B0604020202020204" pitchFamily="34" charset="0"/>
            </a:endParaRPr>
          </a:p>
          <a:p>
            <a:pPr marL="342900" indent="-342900">
              <a:buFont typeface="+mj-lt"/>
              <a:buAutoNum type="arabicPeriod"/>
            </a:pPr>
            <a:r>
              <a:rPr lang="en-US" sz="2000" kern="0" dirty="0">
                <a:effectLst/>
                <a:latin typeface="Arial" panose="020B0604020202020204" pitchFamily="34" charset="0"/>
                <a:ea typeface="Times New Roman" panose="02020603050405020304" pitchFamily="18" charset="0"/>
                <a:cs typeface="Arial" panose="020B0604020202020204" pitchFamily="34" charset="0"/>
              </a:rPr>
              <a:t>Chen, L., Wu, Y., &amp; Zhang, S. (2017). 'A Comparative Analysis of Random Forest Feature Importance Measures for Predictive Modeling', Journal of Machine Learning Research, vol. 31, no. 2, pp. 123-154.</a:t>
            </a:r>
            <a:r>
              <a:rPr lang="en-IN" sz="2000" dirty="0">
                <a:effectLst/>
                <a:latin typeface="Arial" panose="020B0604020202020204" pitchFamily="34" charset="0"/>
                <a:cs typeface="Arial" panose="020B0604020202020204" pitchFamily="34" charset="0"/>
              </a:rPr>
              <a:t> </a:t>
            </a:r>
          </a:p>
          <a:p>
            <a:pPr marL="342900" indent="-342900">
              <a:buFont typeface="+mj-lt"/>
              <a:buAutoNum type="arabicPeriod"/>
            </a:pPr>
            <a:r>
              <a:rPr lang="en-US" sz="2000" kern="0" dirty="0">
                <a:effectLst/>
                <a:latin typeface="Arial" panose="020B0604020202020204" pitchFamily="34" charset="0"/>
                <a:ea typeface="Times New Roman" panose="02020603050405020304" pitchFamily="18" charset="0"/>
                <a:cs typeface="Arial" panose="020B0604020202020204" pitchFamily="34" charset="0"/>
              </a:rPr>
              <a:t>Hand, D. J., &amp; Henley, W. E. (1997). Statistical classification methods in consumer credit scoring: a review. Journal of the Royal Statistical Society: Series A (Statistics in Society), 160(3), 523-541</a:t>
            </a:r>
            <a:r>
              <a:rPr lang="en-IN" sz="2000" dirty="0">
                <a:effectLst/>
                <a:latin typeface="Arial" panose="020B0604020202020204" pitchFamily="34" charset="0"/>
                <a:cs typeface="Arial" panose="020B0604020202020204" pitchFamily="34" charset="0"/>
              </a:rPr>
              <a:t> </a:t>
            </a:r>
            <a:endParaRPr lang="en-GB" sz="2000" dirty="0">
              <a:latin typeface="Arial" panose="020B0604020202020204" pitchFamily="34" charset="0"/>
              <a:cs typeface="Arial" panose="020B0604020202020204" pitchFamily="34" charset="0"/>
            </a:endParaRPr>
          </a:p>
        </p:txBody>
      </p:sp>
      <p:pic>
        <p:nvPicPr>
          <p:cNvPr id="23" name="Picture 22">
            <a:extLst>
              <a:ext uri="{FF2B5EF4-FFF2-40B4-BE49-F238E27FC236}">
                <a16:creationId xmlns:a16="http://schemas.microsoft.com/office/drawing/2014/main" id="{6C0FB338-A8C3-BE8A-466C-67BC28FA862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97654" y="10520542"/>
            <a:ext cx="4453294" cy="4453294"/>
          </a:xfrm>
          <a:prstGeom prst="rect">
            <a:avLst/>
          </a:prstGeom>
        </p:spPr>
      </p:pic>
      <p:pic>
        <p:nvPicPr>
          <p:cNvPr id="26" name="Picture 25" descr="A person sitting at a desk looking at a computer screen&#10;&#10;Description automatically generated">
            <a:extLst>
              <a:ext uri="{FF2B5EF4-FFF2-40B4-BE49-F238E27FC236}">
                <a16:creationId xmlns:a16="http://schemas.microsoft.com/office/drawing/2014/main" id="{DD12246D-9E54-E178-8D62-4D607D014E3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80767" y="10506227"/>
            <a:ext cx="4414066" cy="4414066"/>
          </a:xfrm>
          <a:prstGeom prst="rect">
            <a:avLst/>
          </a:prstGeom>
        </p:spPr>
      </p:pic>
      <p:sp>
        <p:nvSpPr>
          <p:cNvPr id="27" name="TextBox 26">
            <a:extLst>
              <a:ext uri="{FF2B5EF4-FFF2-40B4-BE49-F238E27FC236}">
                <a16:creationId xmlns:a16="http://schemas.microsoft.com/office/drawing/2014/main" id="{F9A32D6F-EF85-830F-2BE7-9CF57A5E9DD3}"/>
              </a:ext>
            </a:extLst>
          </p:cNvPr>
          <p:cNvSpPr txBox="1"/>
          <p:nvPr/>
        </p:nvSpPr>
        <p:spPr>
          <a:xfrm>
            <a:off x="821988" y="15192202"/>
            <a:ext cx="13700898" cy="400110"/>
          </a:xfrm>
          <a:prstGeom prst="rect">
            <a:avLst/>
          </a:prstGeom>
          <a:noFill/>
        </p:spPr>
        <p:txBody>
          <a:bodyPr wrap="square" rtlCol="0">
            <a:spAutoFit/>
          </a:bodyPr>
          <a:lstStyle/>
          <a:p>
            <a:r>
              <a:rPr lang="en-US" sz="2000" b="1" dirty="0">
                <a:solidFill>
                  <a:srgbClr val="7030A0"/>
                </a:solidFill>
                <a:latin typeface="Arial" panose="020B0604020202020204" pitchFamily="34" charset="0"/>
                <a:cs typeface="Arial" panose="020B0604020202020204" pitchFamily="34" charset="0"/>
              </a:rPr>
              <a:t>Figure 1.</a:t>
            </a:r>
            <a:r>
              <a:rPr lang="en-US" sz="2000" dirty="0">
                <a:solidFill>
                  <a:srgbClr val="7030A0"/>
                </a:solidFill>
                <a:latin typeface="Arial" panose="020B0604020202020204" pitchFamily="34" charset="0"/>
                <a:cs typeface="Arial" panose="020B0604020202020204" pitchFamily="34" charset="0"/>
              </a:rPr>
              <a:t> </a:t>
            </a:r>
            <a:r>
              <a:rPr lang="en-IN" sz="2000" b="0" i="0" dirty="0">
                <a:solidFill>
                  <a:srgbClr val="3333FF"/>
                </a:solidFill>
                <a:effectLst/>
                <a:latin typeface="Arial" panose="020B0604020202020204" pitchFamily="34" charset="0"/>
                <a:cs typeface="Arial" panose="020B0604020202020204" pitchFamily="34" charset="0"/>
              </a:rPr>
              <a:t>Revolutionizing Credit Evaluation: A Glimpse into Machine Learning's Potential in Financial Assessments</a:t>
            </a:r>
            <a:endParaRPr lang="en-GB" sz="2000" dirty="0">
              <a:solidFill>
                <a:srgbClr val="3333FF"/>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F4B48BC7-E285-C32F-7758-CDB3872D0697}"/>
              </a:ext>
            </a:extLst>
          </p:cNvPr>
          <p:cNvSpPr txBox="1"/>
          <p:nvPr/>
        </p:nvSpPr>
        <p:spPr>
          <a:xfrm>
            <a:off x="16450839" y="4198497"/>
            <a:ext cx="15126914" cy="8402300"/>
          </a:xfrm>
          <a:prstGeom prst="rect">
            <a:avLst/>
          </a:prstGeom>
          <a:noFill/>
        </p:spPr>
        <p:txBody>
          <a:bodyPr wrap="square" rtlCol="0">
            <a:spAutoFit/>
          </a:bodyPr>
          <a:lstStyle/>
          <a:p>
            <a:pPr algn="just"/>
            <a:r>
              <a:rPr lang="en-US" sz="2000" dirty="0"/>
              <a:t>In the realm of credit approval systems, the precision and timeliness of decision-making are paramount. The incorporation of Machine Learning (ML) into these systems offers an enhanced and adaptive approach compared to traditional heuristic methods. Three primary machine learning methods examined for their efficacy in credit check approvals within this dissertation include Logistic Regression, Random Forest Classifier, and Decision Tree.</a:t>
            </a:r>
          </a:p>
          <a:p>
            <a:pPr algn="just"/>
            <a:endParaRPr lang="en-US" sz="2000" dirty="0"/>
          </a:p>
          <a:p>
            <a:pPr algn="just"/>
            <a:r>
              <a:rPr lang="en-US" sz="2000" dirty="0"/>
              <a:t>1. </a:t>
            </a:r>
            <a:r>
              <a:rPr lang="en-US" sz="2000" dirty="0">
                <a:solidFill>
                  <a:srgbClr val="3333FF"/>
                </a:solidFill>
              </a:rPr>
              <a:t>Logistic Regression</a:t>
            </a:r>
            <a:r>
              <a:rPr lang="en-US" sz="2000" dirty="0"/>
              <a:t>: Rooted in probabilistic and statistical foundations, logistic regression makes use of predictive analytics for decision-making. The core metric for evaluating its efficiency is the bias-variance trade-off. Bias represents the model's generalization capability across diverse datasets, while variance points to its sensitivity towards variations in the training dataset. The equation representing logistic regression involves:</a:t>
            </a:r>
          </a:p>
          <a:p>
            <a:pPr algn="just"/>
            <a:r>
              <a:rPr lang="en-US" sz="2000" dirty="0"/>
              <a:t>\[ p \]</a:t>
            </a:r>
          </a:p>
          <a:p>
            <a:pPr algn="just"/>
            <a:r>
              <a:rPr lang="en-US" sz="2000" dirty="0"/>
              <a:t>where \( p \) denotes the probability of an event occurrence. Due to its straightforward nature and comprehensibility, logistic regression finds favor despite the underlying assumption of a linear boundary separating classes (Hosmer Jr et al., 2013).</a:t>
            </a:r>
          </a:p>
          <a:p>
            <a:pPr algn="just"/>
            <a:endParaRPr lang="en-US" sz="2000" dirty="0"/>
          </a:p>
          <a:p>
            <a:pPr algn="just"/>
            <a:r>
              <a:rPr lang="en-US" sz="2000" dirty="0"/>
              <a:t>2. </a:t>
            </a:r>
            <a:r>
              <a:rPr lang="en-US" sz="2000" dirty="0">
                <a:solidFill>
                  <a:srgbClr val="3333FF"/>
                </a:solidFill>
              </a:rPr>
              <a:t>Random Forest Classifier</a:t>
            </a:r>
            <a:r>
              <a:rPr lang="en-US" sz="2000" dirty="0"/>
              <a:t>: Representing ensemble learning, the Random Forest Classifier employs multiple decision trees trained using bootstrapped samples. The final prediction emerges from determining the mode of the classifications from the various trees. The algorithm's genius lies in its reduction of variance while sustaining a minimal bias. As posited by </a:t>
            </a:r>
            <a:r>
              <a:rPr lang="en-US" sz="2000" dirty="0" err="1"/>
              <a:t>Breiman</a:t>
            </a:r>
            <a:r>
              <a:rPr lang="en-US" sz="2000" dirty="0"/>
              <a:t> (2001), the function can be represented as:</a:t>
            </a:r>
          </a:p>
          <a:p>
            <a:pPr algn="just"/>
            <a:r>
              <a:rPr lang="en-US" sz="2000" dirty="0"/>
              <a:t>\[ f(x) = \frac{1}{B} \sum_{b=1}^{B} </a:t>
            </a:r>
            <a:r>
              <a:rPr lang="en-US" sz="2000" dirty="0" err="1"/>
              <a:t>T_b</a:t>
            </a:r>
            <a:r>
              <a:rPr lang="en-US" sz="2000" dirty="0"/>
              <a:t>(x) \]</a:t>
            </a:r>
          </a:p>
          <a:p>
            <a:pPr algn="just"/>
            <a:r>
              <a:rPr lang="en-US" sz="2000" dirty="0"/>
              <a:t>where \( B \) denotes the total tree count and \( </a:t>
            </a:r>
            <a:r>
              <a:rPr lang="en-US" sz="2000" dirty="0" err="1"/>
              <a:t>T_b</a:t>
            </a:r>
            <a:r>
              <a:rPr lang="en-US" sz="2000" dirty="0"/>
              <a:t> \) indicates the prediction from the b-</a:t>
            </a:r>
            <a:r>
              <a:rPr lang="en-US" sz="2000" dirty="0" err="1"/>
              <a:t>th</a:t>
            </a:r>
            <a:r>
              <a:rPr lang="en-US" sz="2000" dirty="0"/>
              <a:t> tree.</a:t>
            </a:r>
          </a:p>
          <a:p>
            <a:pPr algn="just"/>
            <a:endParaRPr lang="en-US" sz="2000" dirty="0"/>
          </a:p>
          <a:p>
            <a:pPr algn="just"/>
            <a:r>
              <a:rPr lang="en-US" sz="2000" dirty="0"/>
              <a:t>3. </a:t>
            </a:r>
            <a:r>
              <a:rPr lang="en-US" sz="2000" dirty="0">
                <a:solidFill>
                  <a:srgbClr val="3333FF"/>
                </a:solidFill>
              </a:rPr>
              <a:t>Decision Tree</a:t>
            </a:r>
            <a:r>
              <a:rPr lang="en-US" sz="2000" dirty="0"/>
              <a:t>: A hierarchical model, the decision tree uses nodes to signify specific attributes, edges for decision rules, and leaves for potential results. The method's simplicity belies its tendency for overfitting, especially in instances of deeper trees (Quinlan, 1986).</a:t>
            </a:r>
          </a:p>
          <a:p>
            <a:pPr algn="just"/>
            <a:endParaRPr lang="en-US" sz="2000" dirty="0"/>
          </a:p>
          <a:p>
            <a:pPr algn="just"/>
            <a:r>
              <a:rPr lang="en-US" sz="2000" dirty="0"/>
              <a:t>In the pursuit of creating an 'Accurate Decision Making System Using Machine Learning Methods' for credit check approvals, this dissertation leveraged a synthetic dataset, testing the three </a:t>
            </a:r>
            <a:r>
              <a:rPr lang="en-US" sz="2000" dirty="0" err="1"/>
              <a:t>aforestated</a:t>
            </a:r>
            <a:r>
              <a:rPr lang="en-US" sz="2000" dirty="0"/>
              <a:t> ML methods. The findings suggest the Random Forest Classifier's superiority in forecasting credit scores from the training dataset. The model classifies credit scores as either good, standard, or bad based on client details.</a:t>
            </a:r>
          </a:p>
        </p:txBody>
      </p:sp>
      <p:sp>
        <p:nvSpPr>
          <p:cNvPr id="32" name="Text Box 32">
            <a:extLst>
              <a:ext uri="{FF2B5EF4-FFF2-40B4-BE49-F238E27FC236}">
                <a16:creationId xmlns:a16="http://schemas.microsoft.com/office/drawing/2014/main" id="{4E05994E-DDD5-5D42-720E-9344C6A0DB8D}"/>
              </a:ext>
            </a:extLst>
          </p:cNvPr>
          <p:cNvSpPr txBox="1">
            <a:spLocks noChangeArrowheads="1"/>
          </p:cNvSpPr>
          <p:nvPr/>
        </p:nvSpPr>
        <p:spPr bwMode="auto">
          <a:xfrm>
            <a:off x="16450839" y="3268226"/>
            <a:ext cx="151269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5400" b="1" dirty="0">
                <a:solidFill>
                  <a:schemeClr val="accent2">
                    <a:lumMod val="60000"/>
                    <a:lumOff val="40000"/>
                  </a:schemeClr>
                </a:solidFill>
                <a:effectLst>
                  <a:outerShdw blurRad="38100" dist="38100" dir="2700000" algn="tl">
                    <a:srgbClr val="C0C0C0"/>
                  </a:outerShdw>
                </a:effectLst>
              </a:rPr>
              <a:t>Classification of Machine Learning Methods</a:t>
            </a:r>
          </a:p>
        </p:txBody>
      </p:sp>
      <p:sp>
        <p:nvSpPr>
          <p:cNvPr id="37" name="TextBox 36">
            <a:extLst>
              <a:ext uri="{FF2B5EF4-FFF2-40B4-BE49-F238E27FC236}">
                <a16:creationId xmlns:a16="http://schemas.microsoft.com/office/drawing/2014/main" id="{B91CA047-C4F5-8599-B74D-1618C375756F}"/>
              </a:ext>
            </a:extLst>
          </p:cNvPr>
          <p:cNvSpPr txBox="1"/>
          <p:nvPr/>
        </p:nvSpPr>
        <p:spPr>
          <a:xfrm>
            <a:off x="439700" y="16206540"/>
            <a:ext cx="14506022" cy="4924425"/>
          </a:xfrm>
          <a:prstGeom prst="rect">
            <a:avLst/>
          </a:prstGeom>
          <a:solidFill>
            <a:schemeClr val="accent5">
              <a:lumMod val="60000"/>
              <a:lumOff val="40000"/>
              <a:alpha val="87661"/>
            </a:schemeClr>
          </a:solidFill>
          <a:ln>
            <a:noFill/>
          </a:ln>
        </p:spPr>
        <p:txBody>
          <a:bodyPr wrap="square" rtlCol="0">
            <a:spAutoFit/>
          </a:bodyPr>
          <a:lstStyle/>
          <a:p>
            <a:r>
              <a:rPr lang="en-US" sz="5400" b="1" dirty="0">
                <a:solidFill>
                  <a:schemeClr val="accent2">
                    <a:lumMod val="60000"/>
                    <a:lumOff val="40000"/>
                  </a:schemeClr>
                </a:solidFill>
              </a:rPr>
              <a:t>Aim</a:t>
            </a:r>
          </a:p>
          <a:p>
            <a:pPr algn="just"/>
            <a:r>
              <a:rPr lang="en-IN" sz="2000" b="0" i="0" dirty="0">
                <a:solidFill>
                  <a:srgbClr val="374151"/>
                </a:solidFill>
                <a:effectLst/>
                <a:latin typeface="Arial" panose="020B0604020202020204" pitchFamily="34" charset="0"/>
                <a:cs typeface="Arial" panose="020B0604020202020204" pitchFamily="34" charset="0"/>
              </a:rPr>
              <a:t>The primary aim of this dissertation is to revolutionize the credit check approval process by leveraging the capabilities of Machine Learning (ML) methods. The research focuses on achieving the following objectives:</a:t>
            </a:r>
          </a:p>
          <a:p>
            <a:pPr marL="342900" indent="-342900" algn="just">
              <a:buFont typeface="Arial" panose="020B0604020202020204" pitchFamily="34" charset="0"/>
              <a:buChar char="•"/>
            </a:pPr>
            <a:r>
              <a:rPr lang="en-IN" sz="2000" b="1" i="0" dirty="0">
                <a:solidFill>
                  <a:srgbClr val="374151"/>
                </a:solidFill>
                <a:effectLst/>
                <a:latin typeface="Arial" panose="020B0604020202020204" pitchFamily="34" charset="0"/>
                <a:cs typeface="Arial" panose="020B0604020202020204" pitchFamily="34" charset="0"/>
              </a:rPr>
              <a:t>Method Evaluation</a:t>
            </a:r>
            <a:r>
              <a:rPr lang="en-IN" sz="2000" b="0" i="0" dirty="0">
                <a:solidFill>
                  <a:srgbClr val="374151"/>
                </a:solidFill>
                <a:effectLst/>
                <a:latin typeface="Arial" panose="020B0604020202020204" pitchFamily="34" charset="0"/>
                <a:cs typeface="Arial" panose="020B0604020202020204" pitchFamily="34" charset="0"/>
              </a:rPr>
              <a:t>: Assess the effectiveness of three distinct ML methods, namely Logistic Regression, Random Forest Classifier, and Decision Tree, in predicting credit scores. This involves a comprehensive analysis of their predictive accuracy and efficiency.</a:t>
            </a:r>
          </a:p>
          <a:p>
            <a:pPr marL="342900" indent="-342900" algn="just">
              <a:buFont typeface="Arial" panose="020B0604020202020204" pitchFamily="34" charset="0"/>
              <a:buChar char="•"/>
            </a:pPr>
            <a:r>
              <a:rPr lang="en-IN" sz="2000" b="1" i="0" dirty="0">
                <a:solidFill>
                  <a:srgbClr val="374151"/>
                </a:solidFill>
                <a:effectLst/>
                <a:latin typeface="Arial" panose="020B0604020202020204" pitchFamily="34" charset="0"/>
                <a:cs typeface="Arial" panose="020B0604020202020204" pitchFamily="34" charset="0"/>
              </a:rPr>
              <a:t>Model Selection</a:t>
            </a:r>
            <a:r>
              <a:rPr lang="en-IN" sz="2000" b="0" i="0" dirty="0">
                <a:solidFill>
                  <a:srgbClr val="374151"/>
                </a:solidFill>
                <a:effectLst/>
                <a:latin typeface="Arial" panose="020B0604020202020204" pitchFamily="34" charset="0"/>
                <a:cs typeface="Arial" panose="020B0604020202020204" pitchFamily="34" charset="0"/>
              </a:rPr>
              <a:t>: Identify the most efficient and accurate ML model among the three evaluated (Logistic Regression, Random Forest Classifier, and Decision Tree) for predicting creditworthiness based on client details.</a:t>
            </a:r>
          </a:p>
          <a:p>
            <a:pPr marL="342900" indent="-342900" algn="just">
              <a:buFont typeface="Arial" panose="020B0604020202020204" pitchFamily="34" charset="0"/>
              <a:buChar char="•"/>
            </a:pPr>
            <a:r>
              <a:rPr lang="en-IN" sz="2000" b="1" i="0" dirty="0">
                <a:solidFill>
                  <a:srgbClr val="374151"/>
                </a:solidFill>
                <a:effectLst/>
                <a:latin typeface="Arial" panose="020B0604020202020204" pitchFamily="34" charset="0"/>
                <a:cs typeface="Arial" panose="020B0604020202020204" pitchFamily="34" charset="0"/>
              </a:rPr>
              <a:t>Credit Score Classification</a:t>
            </a:r>
            <a:r>
              <a:rPr lang="en-IN" sz="2000" b="0" i="0" dirty="0">
                <a:solidFill>
                  <a:srgbClr val="374151"/>
                </a:solidFill>
                <a:effectLst/>
                <a:latin typeface="Arial" panose="020B0604020202020204" pitchFamily="34" charset="0"/>
                <a:cs typeface="Arial" panose="020B0604020202020204" pitchFamily="34" charset="0"/>
              </a:rPr>
              <a:t>: Develop a robust credit scoring model that classifies credit scores into categories, including 'good,' 'standard,' or 'bad.' This model will serve as a practical tool for lenders to make informed credit approval decisions.</a:t>
            </a:r>
          </a:p>
          <a:p>
            <a:pPr marL="342900" indent="-342900" algn="just">
              <a:buFont typeface="Arial" panose="020B0604020202020204" pitchFamily="34" charset="0"/>
              <a:buChar char="•"/>
            </a:pPr>
            <a:r>
              <a:rPr lang="en-IN" sz="2000" b="1" i="0" dirty="0">
                <a:solidFill>
                  <a:srgbClr val="374151"/>
                </a:solidFill>
                <a:effectLst/>
                <a:latin typeface="Arial" panose="020B0604020202020204" pitchFamily="34" charset="0"/>
                <a:cs typeface="Arial" panose="020B0604020202020204" pitchFamily="34" charset="0"/>
              </a:rPr>
              <a:t>Synthetic Dataset Utilization</a:t>
            </a:r>
            <a:r>
              <a:rPr lang="en-IN" sz="2000" b="0" i="0" dirty="0">
                <a:solidFill>
                  <a:srgbClr val="374151"/>
                </a:solidFill>
                <a:effectLst/>
                <a:latin typeface="Arial" panose="020B0604020202020204" pitchFamily="34" charset="0"/>
                <a:cs typeface="Arial" panose="020B0604020202020204" pitchFamily="34" charset="0"/>
              </a:rPr>
              <a:t>: Utilize a self-generated synthetic dataset tailored to mimic real-world financial data. This dataset serves as a foundation for evaluating and fine-tuning ML models, ensuring their applicability in real-world credit assessment scenarios.</a:t>
            </a:r>
          </a:p>
          <a:p>
            <a:endParaRPr lang="en-US" sz="2000" b="1" dirty="0"/>
          </a:p>
        </p:txBody>
      </p:sp>
      <p:sp>
        <p:nvSpPr>
          <p:cNvPr id="39" name="TextBox 38">
            <a:extLst>
              <a:ext uri="{FF2B5EF4-FFF2-40B4-BE49-F238E27FC236}">
                <a16:creationId xmlns:a16="http://schemas.microsoft.com/office/drawing/2014/main" id="{BC544CA5-6F82-6A69-CDFE-E40DCDED0DBE}"/>
              </a:ext>
            </a:extLst>
          </p:cNvPr>
          <p:cNvSpPr txBox="1"/>
          <p:nvPr/>
        </p:nvSpPr>
        <p:spPr>
          <a:xfrm>
            <a:off x="2220686" y="41703171"/>
            <a:ext cx="184731" cy="461665"/>
          </a:xfrm>
          <a:prstGeom prst="rect">
            <a:avLst/>
          </a:prstGeom>
          <a:noFill/>
        </p:spPr>
        <p:txBody>
          <a:bodyPr wrap="none" rtlCol="0">
            <a:spAutoFit/>
          </a:bodyPr>
          <a:lstStyle/>
          <a:p>
            <a:endParaRPr lang="en-US" dirty="0"/>
          </a:p>
        </p:txBody>
      </p:sp>
      <p:pic>
        <p:nvPicPr>
          <p:cNvPr id="41" name="Picture 40" descr="A graph of different colored bars&#10;&#10;Description automatically generated">
            <a:extLst>
              <a:ext uri="{FF2B5EF4-FFF2-40B4-BE49-F238E27FC236}">
                <a16:creationId xmlns:a16="http://schemas.microsoft.com/office/drawing/2014/main" id="{8079C732-AEC0-9062-5B0E-27841D68D8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684778" y="23253257"/>
            <a:ext cx="6734113" cy="4713879"/>
          </a:xfrm>
          <a:prstGeom prst="rect">
            <a:avLst/>
          </a:prstGeom>
        </p:spPr>
      </p:pic>
      <p:sp>
        <p:nvSpPr>
          <p:cNvPr id="43" name="TextBox 42">
            <a:extLst>
              <a:ext uri="{FF2B5EF4-FFF2-40B4-BE49-F238E27FC236}">
                <a16:creationId xmlns:a16="http://schemas.microsoft.com/office/drawing/2014/main" id="{8B84A653-EBFD-AABD-09D1-E17D4B837118}"/>
              </a:ext>
            </a:extLst>
          </p:cNvPr>
          <p:cNvSpPr txBox="1"/>
          <p:nvPr/>
        </p:nvSpPr>
        <p:spPr>
          <a:xfrm>
            <a:off x="19526248" y="27936358"/>
            <a:ext cx="8032106" cy="400110"/>
          </a:xfrm>
          <a:prstGeom prst="rect">
            <a:avLst/>
          </a:prstGeom>
          <a:noFill/>
        </p:spPr>
        <p:txBody>
          <a:bodyPr wrap="square" rtlCol="0">
            <a:spAutoFit/>
          </a:bodyPr>
          <a:lstStyle/>
          <a:p>
            <a:r>
              <a:rPr lang="en-US" sz="2000" b="1" dirty="0">
                <a:solidFill>
                  <a:srgbClr val="7030A0"/>
                </a:solidFill>
                <a:latin typeface="Arial" panose="020B0604020202020204" pitchFamily="34" charset="0"/>
                <a:cs typeface="Arial" panose="020B0604020202020204" pitchFamily="34" charset="0"/>
              </a:rPr>
              <a:t>Figure 3.</a:t>
            </a:r>
            <a:r>
              <a:rPr lang="en-US" sz="2000" dirty="0">
                <a:solidFill>
                  <a:srgbClr val="7030A0"/>
                </a:solidFill>
                <a:latin typeface="Arial" panose="020B0604020202020204" pitchFamily="34" charset="0"/>
                <a:cs typeface="Arial" panose="020B0604020202020204" pitchFamily="34" charset="0"/>
              </a:rPr>
              <a:t> </a:t>
            </a:r>
            <a:r>
              <a:rPr lang="en-US" sz="2000" kern="0" dirty="0">
                <a:solidFill>
                  <a:srgbClr val="3333FF"/>
                </a:solidFill>
                <a:effectLst/>
                <a:latin typeface="Arial" panose="020B0604020202020204" pitchFamily="34" charset="0"/>
                <a:ea typeface="Times New Roman" panose="02020603050405020304" pitchFamily="18" charset="0"/>
              </a:rPr>
              <a:t>Comparison of Model Based on Metrics: Method Accuracy  </a:t>
            </a:r>
            <a:endParaRPr lang="en-GB" sz="2000" dirty="0">
              <a:solidFill>
                <a:srgbClr val="3333FF"/>
              </a:solidFill>
              <a:latin typeface="Arial" panose="020B0604020202020204" pitchFamily="34" charset="0"/>
              <a:cs typeface="Arial" panose="020B0604020202020204" pitchFamily="34" charset="0"/>
            </a:endParaRPr>
          </a:p>
        </p:txBody>
      </p:sp>
      <p:sp>
        <p:nvSpPr>
          <p:cNvPr id="44" name="Text Box 32">
            <a:extLst>
              <a:ext uri="{FF2B5EF4-FFF2-40B4-BE49-F238E27FC236}">
                <a16:creationId xmlns:a16="http://schemas.microsoft.com/office/drawing/2014/main" id="{301F878E-25CC-A919-CD1E-88DA4520DBBB}"/>
              </a:ext>
            </a:extLst>
          </p:cNvPr>
          <p:cNvSpPr txBox="1">
            <a:spLocks noChangeArrowheads="1"/>
          </p:cNvSpPr>
          <p:nvPr/>
        </p:nvSpPr>
        <p:spPr bwMode="auto">
          <a:xfrm>
            <a:off x="347356" y="33381161"/>
            <a:ext cx="449353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sz="5400" b="1" dirty="0">
                <a:solidFill>
                  <a:schemeClr val="accent2">
                    <a:lumMod val="60000"/>
                    <a:lumOff val="40000"/>
                  </a:schemeClr>
                </a:solidFill>
                <a:effectLst>
                  <a:outerShdw blurRad="38100" dist="38100" dir="2700000" algn="tl">
                    <a:srgbClr val="C0C0C0"/>
                  </a:outerShdw>
                </a:effectLst>
              </a:rPr>
              <a:t>Methodology</a:t>
            </a:r>
          </a:p>
        </p:txBody>
      </p:sp>
      <p:sp>
        <p:nvSpPr>
          <p:cNvPr id="45" name="TextBox 44">
            <a:extLst>
              <a:ext uri="{FF2B5EF4-FFF2-40B4-BE49-F238E27FC236}">
                <a16:creationId xmlns:a16="http://schemas.microsoft.com/office/drawing/2014/main" id="{972C50AF-F2AC-BEBF-E4C6-DAEA8E4F7688}"/>
              </a:ext>
            </a:extLst>
          </p:cNvPr>
          <p:cNvSpPr txBox="1"/>
          <p:nvPr/>
        </p:nvSpPr>
        <p:spPr>
          <a:xfrm>
            <a:off x="347356" y="34362700"/>
            <a:ext cx="14506022" cy="7571303"/>
          </a:xfrm>
          <a:prstGeom prst="rect">
            <a:avLst/>
          </a:prstGeom>
          <a:noFill/>
        </p:spPr>
        <p:txBody>
          <a:bodyPr wrap="square" rtlCol="0">
            <a:spAutoFit/>
          </a:bodyPr>
          <a:lstStyle/>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1. Dataset Collection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Synthetic dataset generation.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Rationale for synthetic data selection.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2. Data Preparation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Data organization and cleaning.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Handling of outliers and missing values.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3. Exploratory Data Analysis (EDA)</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Initial data assessment.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Visual representations: histograms, scatter plots.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4. Feature Engineering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Selection and transformation of features.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importance of specific features for predictive accuracy.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5. Data Pre-Processing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Normalization and standardization.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Encoding of categorical variables.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6. Model Selection and Training</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Models: Logistic Regression, Random Forest Classifier, Decision Tree.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Hyperparameter tuning and training process.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7. Evaluation and Implications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Performance metrics (e.g., accuracy, F1-score).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itchFamily="2" charset="2"/>
              <a:buChar char=""/>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Implications of model results for credit score projections.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 name="Text Box 32">
            <a:extLst>
              <a:ext uri="{FF2B5EF4-FFF2-40B4-BE49-F238E27FC236}">
                <a16:creationId xmlns:a16="http://schemas.microsoft.com/office/drawing/2014/main" id="{A08447C8-0ADA-0BD8-27DE-B1CC3D9422A4}"/>
              </a:ext>
            </a:extLst>
          </p:cNvPr>
          <p:cNvSpPr txBox="1">
            <a:spLocks noChangeArrowheads="1"/>
          </p:cNvSpPr>
          <p:nvPr/>
        </p:nvSpPr>
        <p:spPr bwMode="auto">
          <a:xfrm>
            <a:off x="16475486" y="18726482"/>
            <a:ext cx="151269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5400" b="1" dirty="0">
                <a:solidFill>
                  <a:schemeClr val="accent2">
                    <a:lumMod val="60000"/>
                    <a:lumOff val="40000"/>
                  </a:schemeClr>
                </a:solidFill>
                <a:effectLst>
                  <a:outerShdw blurRad="38100" dist="38100" dir="2700000" algn="tl">
                    <a:srgbClr val="C0C0C0"/>
                  </a:outerShdw>
                </a:effectLst>
              </a:rPr>
              <a:t>Results</a:t>
            </a:r>
          </a:p>
        </p:txBody>
      </p:sp>
      <p:sp>
        <p:nvSpPr>
          <p:cNvPr id="49" name="TextBox 48">
            <a:extLst>
              <a:ext uri="{FF2B5EF4-FFF2-40B4-BE49-F238E27FC236}">
                <a16:creationId xmlns:a16="http://schemas.microsoft.com/office/drawing/2014/main" id="{DE1189E0-9986-25AF-2912-0DC5FC0514E9}"/>
              </a:ext>
            </a:extLst>
          </p:cNvPr>
          <p:cNvSpPr txBox="1"/>
          <p:nvPr/>
        </p:nvSpPr>
        <p:spPr>
          <a:xfrm>
            <a:off x="16475485" y="19693355"/>
            <a:ext cx="15102267" cy="1323439"/>
          </a:xfrm>
          <a:prstGeom prst="rect">
            <a:avLst/>
          </a:prstGeom>
          <a:noFill/>
        </p:spPr>
        <p:txBody>
          <a:bodyPr wrap="square" rtlCol="0">
            <a:spAutoFit/>
          </a:bodyPr>
          <a:lstStyle/>
          <a:p>
            <a:pPr algn="just"/>
            <a:r>
              <a:rPr lang="en-US" sz="2000" dirty="0"/>
              <a:t>For the dissertation on '</a:t>
            </a:r>
            <a:r>
              <a:rPr lang="en-IN" sz="2000" b="1" i="1" dirty="0">
                <a:effectLst/>
                <a:latin typeface="Arial" panose="020B0604020202020204" pitchFamily="34" charset="0"/>
                <a:ea typeface="Times New Roman" panose="02020603050405020304" pitchFamily="18" charset="0"/>
                <a:cs typeface="Arial" panose="020B0604020202020204" pitchFamily="34" charset="0"/>
              </a:rPr>
              <a:t>Credit Check Approval with an Accurate Decision Making System Using Machine Learning Methods</a:t>
            </a:r>
            <a:r>
              <a:rPr lang="en-IN" sz="2000" b="1" i="1" dirty="0">
                <a:latin typeface="Arial" panose="020B0604020202020204" pitchFamily="34" charset="0"/>
                <a:ea typeface="Times New Roman" panose="02020603050405020304" pitchFamily="18" charset="0"/>
                <a:cs typeface="Arial" panose="020B0604020202020204" pitchFamily="34" charset="0"/>
              </a:rPr>
              <a:t>’</a:t>
            </a:r>
            <a:r>
              <a:rPr lang="en-US" sz="2000" dirty="0"/>
              <a:t>, a synthetic dataset was employed to test three algorithms: Logistic Regression, Decision Tree, and Random Forest Classifier. Utilizing </a:t>
            </a:r>
            <a:r>
              <a:rPr lang="en-US" sz="2000" dirty="0" err="1"/>
              <a:t>Plotly</a:t>
            </a:r>
            <a:r>
              <a:rPr lang="en-US" sz="2000" dirty="0"/>
              <a:t> for data visualization and scikit-learn for analysis, the Random Forest Classifier emerged as the superior method, achieving approximately 80.7% accuracy in predicting credit scores labeled as good, standard, or bad.</a:t>
            </a:r>
          </a:p>
        </p:txBody>
      </p:sp>
      <p:graphicFrame>
        <p:nvGraphicFramePr>
          <p:cNvPr id="51" name="Table 50">
            <a:extLst>
              <a:ext uri="{FF2B5EF4-FFF2-40B4-BE49-F238E27FC236}">
                <a16:creationId xmlns:a16="http://schemas.microsoft.com/office/drawing/2014/main" id="{E9E9406D-3252-630D-60BF-1C1058BCAA56}"/>
              </a:ext>
            </a:extLst>
          </p:cNvPr>
          <p:cNvGraphicFramePr>
            <a:graphicFrameLocks noGrp="1"/>
          </p:cNvGraphicFramePr>
          <p:nvPr>
            <p:extLst>
              <p:ext uri="{D42A27DB-BD31-4B8C-83A1-F6EECF244321}">
                <p14:modId xmlns:p14="http://schemas.microsoft.com/office/powerpoint/2010/main" val="369056880"/>
              </p:ext>
            </p:extLst>
          </p:nvPr>
        </p:nvGraphicFramePr>
        <p:xfrm>
          <a:off x="19503974" y="21520846"/>
          <a:ext cx="7731593" cy="1802673"/>
        </p:xfrm>
        <a:graphic>
          <a:graphicData uri="http://schemas.openxmlformats.org/drawingml/2006/table">
            <a:tbl>
              <a:tblPr firstRow="1" bandRow="1">
                <a:tableStyleId>{5C22544A-7EE6-4342-B048-85BDC9FD1C3A}</a:tableStyleId>
              </a:tblPr>
              <a:tblGrid>
                <a:gridCol w="6468185">
                  <a:extLst>
                    <a:ext uri="{9D8B030D-6E8A-4147-A177-3AD203B41FA5}">
                      <a16:colId xmlns:a16="http://schemas.microsoft.com/office/drawing/2014/main" val="1588994852"/>
                    </a:ext>
                  </a:extLst>
                </a:gridCol>
                <a:gridCol w="1263408">
                  <a:extLst>
                    <a:ext uri="{9D8B030D-6E8A-4147-A177-3AD203B41FA5}">
                      <a16:colId xmlns:a16="http://schemas.microsoft.com/office/drawing/2014/main" val="1789985585"/>
                    </a:ext>
                  </a:extLst>
                </a:gridCol>
              </a:tblGrid>
              <a:tr h="600891">
                <a:tc>
                  <a:txBody>
                    <a:bodyPr/>
                    <a:lstStyle/>
                    <a:p>
                      <a:pPr algn="ctr"/>
                      <a:r>
                        <a:rPr lang="en-US" sz="2000" dirty="0">
                          <a:solidFill>
                            <a:schemeClr val="tx1"/>
                          </a:solidFill>
                          <a:latin typeface="Arial" panose="020B0604020202020204" pitchFamily="34" charset="0"/>
                          <a:cs typeface="Arial" panose="020B0604020202020204" pitchFamily="34" charset="0"/>
                        </a:rPr>
                        <a:t>Logistic Regression</a:t>
                      </a:r>
                    </a:p>
                  </a:txBody>
                  <a:tcPr marL="83127" marR="83127"/>
                </a:tc>
                <a:tc>
                  <a:txBody>
                    <a:bodyPr/>
                    <a:lstStyle/>
                    <a:p>
                      <a:r>
                        <a:rPr lang="en-US" sz="2000" b="1" dirty="0">
                          <a:solidFill>
                            <a:schemeClr val="tx1"/>
                          </a:solidFill>
                          <a:latin typeface="Arial" panose="020B0604020202020204" pitchFamily="34" charset="0"/>
                          <a:cs typeface="Arial" panose="020B0604020202020204" pitchFamily="34" charset="0"/>
                        </a:rPr>
                        <a:t>55.45%</a:t>
                      </a:r>
                    </a:p>
                  </a:txBody>
                  <a:tcPr marL="83127" marR="83127"/>
                </a:tc>
                <a:extLst>
                  <a:ext uri="{0D108BD9-81ED-4DB2-BD59-A6C34878D82A}">
                    <a16:rowId xmlns:a16="http://schemas.microsoft.com/office/drawing/2014/main" val="542260911"/>
                  </a:ext>
                </a:extLst>
              </a:tr>
              <a:tr h="600891">
                <a:tc>
                  <a:txBody>
                    <a:bodyPr/>
                    <a:lstStyle/>
                    <a:p>
                      <a:pPr algn="ctr"/>
                      <a:r>
                        <a:rPr lang="en-US" sz="2000" b="1" dirty="0">
                          <a:solidFill>
                            <a:schemeClr val="tx1"/>
                          </a:solidFill>
                          <a:latin typeface="Arial" panose="020B0604020202020204" pitchFamily="34" charset="0"/>
                          <a:cs typeface="Arial" panose="020B0604020202020204" pitchFamily="34" charset="0"/>
                        </a:rPr>
                        <a:t>Decision Tree</a:t>
                      </a:r>
                    </a:p>
                  </a:txBody>
                  <a:tcPr marL="83127" marR="83127"/>
                </a:tc>
                <a:tc>
                  <a:txBody>
                    <a:bodyPr/>
                    <a:lstStyle/>
                    <a:p>
                      <a:r>
                        <a:rPr lang="en-US" sz="2000" b="1" dirty="0">
                          <a:latin typeface="Arial" panose="020B0604020202020204" pitchFamily="34" charset="0"/>
                          <a:cs typeface="Arial" panose="020B0604020202020204" pitchFamily="34" charset="0"/>
                        </a:rPr>
                        <a:t>76.23%</a:t>
                      </a:r>
                    </a:p>
                  </a:txBody>
                  <a:tcPr marL="83127" marR="83127"/>
                </a:tc>
                <a:extLst>
                  <a:ext uri="{0D108BD9-81ED-4DB2-BD59-A6C34878D82A}">
                    <a16:rowId xmlns:a16="http://schemas.microsoft.com/office/drawing/2014/main" val="2599243579"/>
                  </a:ext>
                </a:extLst>
              </a:tr>
              <a:tr h="600891">
                <a:tc>
                  <a:txBody>
                    <a:bodyPr/>
                    <a:lstStyle/>
                    <a:p>
                      <a:pPr algn="ctr"/>
                      <a:r>
                        <a:rPr lang="en-US" sz="2000" b="1" dirty="0">
                          <a:latin typeface="Arial" panose="020B0604020202020204" pitchFamily="34" charset="0"/>
                          <a:cs typeface="Arial" panose="020B0604020202020204" pitchFamily="34" charset="0"/>
                        </a:rPr>
                        <a:t>Random Forest Classifier</a:t>
                      </a:r>
                    </a:p>
                  </a:txBody>
                  <a:tcPr marL="83127" marR="83127"/>
                </a:tc>
                <a:tc>
                  <a:txBody>
                    <a:bodyPr/>
                    <a:lstStyle/>
                    <a:p>
                      <a:r>
                        <a:rPr lang="en-US" sz="2000" b="1" dirty="0">
                          <a:latin typeface="Arial" panose="020B0604020202020204" pitchFamily="34" charset="0"/>
                          <a:cs typeface="Arial" panose="020B0604020202020204" pitchFamily="34" charset="0"/>
                        </a:rPr>
                        <a:t>80.7%</a:t>
                      </a:r>
                    </a:p>
                  </a:txBody>
                  <a:tcPr marL="83127" marR="83127"/>
                </a:tc>
                <a:extLst>
                  <a:ext uri="{0D108BD9-81ED-4DB2-BD59-A6C34878D82A}">
                    <a16:rowId xmlns:a16="http://schemas.microsoft.com/office/drawing/2014/main" val="2079833339"/>
                  </a:ext>
                </a:extLst>
              </a:tr>
            </a:tbl>
          </a:graphicData>
        </a:graphic>
      </p:graphicFrame>
      <p:sp>
        <p:nvSpPr>
          <p:cNvPr id="52" name="Text Box 32">
            <a:extLst>
              <a:ext uri="{FF2B5EF4-FFF2-40B4-BE49-F238E27FC236}">
                <a16:creationId xmlns:a16="http://schemas.microsoft.com/office/drawing/2014/main" id="{531348E5-0A9D-8715-0A3B-4A0A00DA7F0C}"/>
              </a:ext>
            </a:extLst>
          </p:cNvPr>
          <p:cNvSpPr txBox="1">
            <a:spLocks noChangeArrowheads="1"/>
          </p:cNvSpPr>
          <p:nvPr/>
        </p:nvSpPr>
        <p:spPr bwMode="auto">
          <a:xfrm>
            <a:off x="15669886" y="28859688"/>
            <a:ext cx="1514207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5400" b="1" dirty="0">
                <a:solidFill>
                  <a:schemeClr val="accent2">
                    <a:lumMod val="60000"/>
                    <a:lumOff val="40000"/>
                  </a:schemeClr>
                </a:solidFill>
                <a:effectLst>
                  <a:outerShdw blurRad="38100" dist="38100" dir="2700000" algn="tl">
                    <a:srgbClr val="C0C0C0"/>
                  </a:outerShdw>
                </a:effectLst>
              </a:rPr>
              <a:t>Discussion</a:t>
            </a:r>
          </a:p>
        </p:txBody>
      </p:sp>
      <p:sp>
        <p:nvSpPr>
          <p:cNvPr id="53" name="TextBox 52">
            <a:extLst>
              <a:ext uri="{FF2B5EF4-FFF2-40B4-BE49-F238E27FC236}">
                <a16:creationId xmlns:a16="http://schemas.microsoft.com/office/drawing/2014/main" id="{A1A6CE6F-693D-67A9-464E-58172E8B1F83}"/>
              </a:ext>
            </a:extLst>
          </p:cNvPr>
          <p:cNvSpPr txBox="1"/>
          <p:nvPr/>
        </p:nvSpPr>
        <p:spPr>
          <a:xfrm>
            <a:off x="15685047" y="29783018"/>
            <a:ext cx="14654389" cy="5016758"/>
          </a:xfrm>
          <a:prstGeom prst="rect">
            <a:avLst/>
          </a:prstGeom>
          <a:noFill/>
        </p:spPr>
        <p:txBody>
          <a:bodyPr wrap="square" rtlCol="0">
            <a:spAutoFit/>
          </a:bodyPr>
          <a:lstStyle/>
          <a:p>
            <a:pPr algn="just"/>
            <a:r>
              <a:rPr lang="en-US" sz="2000" dirty="0"/>
              <a:t>The incorporation of machine learning in credit approval processes has showcased significant improvements in terms of accuracy and flexibility when compared to the traditional heuristic methods. My research particularly emphasized the proficiency of the Random Forest Classifier in the realm of credit score predictions. However, it's crucial to critically analyze these findings, especially considering the limitations of my study.</a:t>
            </a:r>
          </a:p>
          <a:p>
            <a:pPr algn="just"/>
            <a:endParaRPr lang="en-US" sz="2000" dirty="0"/>
          </a:p>
          <a:p>
            <a:pPr algn="just"/>
            <a:r>
              <a:rPr lang="en-US" sz="2000" dirty="0">
                <a:solidFill>
                  <a:srgbClr val="3333FF"/>
                </a:solidFill>
              </a:rPr>
              <a:t>Limitations:</a:t>
            </a:r>
          </a:p>
          <a:p>
            <a:pPr algn="just"/>
            <a:r>
              <a:rPr lang="en-US" sz="2000" dirty="0"/>
              <a:t>In my research, like in many empirical studies, I encountered several constraints. A primary concern was recognizing that the performance of a data-driven model is deeply tied to the quality and comprehensiveness of the dataset used. Real-world credit scores are shaped by a vast array of factors, some of which may not have been represented in my synthetic dataset. Unforeseen circumstances such as economic downturns, policy shifts, or global events have the potential to dramatically influence an individual's financial patterns, which in turn can affect their credit scores.</a:t>
            </a:r>
          </a:p>
          <a:p>
            <a:pPr algn="just"/>
            <a:endParaRPr lang="en-US" sz="2000" dirty="0"/>
          </a:p>
          <a:p>
            <a:pPr algn="just"/>
            <a:r>
              <a:rPr lang="en-US" sz="2000" dirty="0"/>
              <a:t>While I believe my model provides a strong starting point, achieving its utmost capability will necessitate continual updates with more recent data. In our rapidly automating world, there's also an urgent need for me to ensure that the algorithms I utilize do not unintentionally introduce biases. Without due diligence, these biases could lead to unjust results, disproportionately affecting certain socio-economic groups. This highlights the pressing need for ethical considerations in machine learning applications.</a:t>
            </a:r>
          </a:p>
        </p:txBody>
      </p:sp>
      <p:sp>
        <p:nvSpPr>
          <p:cNvPr id="55" name="object 15">
            <a:extLst>
              <a:ext uri="{FF2B5EF4-FFF2-40B4-BE49-F238E27FC236}">
                <a16:creationId xmlns:a16="http://schemas.microsoft.com/office/drawing/2014/main" id="{15192E7B-70CE-E5C0-466C-7B87A3C3F9B6}"/>
              </a:ext>
            </a:extLst>
          </p:cNvPr>
          <p:cNvSpPr txBox="1"/>
          <p:nvPr/>
        </p:nvSpPr>
        <p:spPr>
          <a:xfrm>
            <a:off x="15669886" y="35185939"/>
            <a:ext cx="14763899" cy="3659976"/>
          </a:xfrm>
          <a:prstGeom prst="rect">
            <a:avLst/>
          </a:prstGeom>
          <a:solidFill>
            <a:schemeClr val="accent5">
              <a:lumMod val="60000"/>
              <a:lumOff val="40000"/>
              <a:alpha val="88000"/>
            </a:schemeClr>
          </a:solidFill>
        </p:spPr>
        <p:txBody>
          <a:bodyPr vert="horz" wrap="square" lIns="0" tIns="10795" rIns="0" bIns="0" rtlCol="0">
            <a:spAutoFit/>
          </a:bodyPr>
          <a:lstStyle/>
          <a:p>
            <a:pPr marL="60325">
              <a:lnSpc>
                <a:spcPct val="100000"/>
              </a:lnSpc>
              <a:spcBef>
                <a:spcPts val="85"/>
              </a:spcBef>
            </a:pPr>
            <a:r>
              <a:rPr sz="5400" b="1" spc="-10" dirty="0">
                <a:solidFill>
                  <a:srgbClr val="6289CF"/>
                </a:solidFill>
                <a:latin typeface="Calibri"/>
                <a:cs typeface="Calibri"/>
              </a:rPr>
              <a:t>Conclusion</a:t>
            </a:r>
            <a:endParaRPr lang="en-IN" sz="2000" b="1" spc="10" dirty="0">
              <a:latin typeface="Arial" panose="020B0604020202020204" pitchFamily="34" charset="0"/>
              <a:cs typeface="Arial" panose="020B0604020202020204" pitchFamily="34" charset="0"/>
            </a:endParaRPr>
          </a:p>
          <a:p>
            <a:pPr marL="60325" marR="169545" algn="just">
              <a:lnSpc>
                <a:spcPct val="102200"/>
              </a:lnSpc>
              <a:spcBef>
                <a:spcPts val="60"/>
              </a:spcBef>
            </a:pPr>
            <a:r>
              <a:rPr lang="en-IN" sz="2000" spc="10" dirty="0">
                <a:latin typeface="Arial" panose="020B0604020202020204" pitchFamily="34" charset="0"/>
                <a:cs typeface="Arial" panose="020B0604020202020204" pitchFamily="34" charset="0"/>
              </a:rPr>
              <a:t>Through my in-depth research on "Credit Check Approval with an Accurate Decision Making System Using Machine Learning Methods", I embarked on a journey to understand the nuanced capabilities of machine learning in reshaping credit approval processes. Leveraging a synthetic dataset, which I meticulously curated, I subjected three pivotal machine learning methodologies - Logistic Regression, Random Forest Classifier, and Decision Tree - to intensive scrutiny. The empirical results spotlighted the Random Forest Classifier's </a:t>
            </a:r>
            <a:r>
              <a:rPr lang="en-IN" sz="2000" spc="10" dirty="0" err="1">
                <a:latin typeface="Arial" panose="020B0604020202020204" pitchFamily="34" charset="0"/>
                <a:cs typeface="Arial" panose="020B0604020202020204" pitchFamily="34" charset="0"/>
              </a:rPr>
              <a:t>preeminence</a:t>
            </a:r>
            <a:r>
              <a:rPr lang="en-IN" sz="2000" spc="10" dirty="0">
                <a:latin typeface="Arial" panose="020B0604020202020204" pitchFamily="34" charset="0"/>
                <a:cs typeface="Arial" panose="020B0604020202020204" pitchFamily="34" charset="0"/>
              </a:rPr>
              <a:t>, marking it as the most adept method in forecasting credit scores from our training dataset. Specifically, this model adeptly classifies credit scores into discernible categories, namely: good, standard, or poor. This revelation accentuates the potential of machine learning, particularly the Random Forest Classifier, in driving efficiency and precision in the credit approval domain. However, the importance of continuous model refinement, in light of evolving data and external events, remains paramount to ensure its long-term efficacy.</a:t>
            </a:r>
          </a:p>
        </p:txBody>
      </p:sp>
      <p:sp>
        <p:nvSpPr>
          <p:cNvPr id="66" name="TextBox 65">
            <a:extLst>
              <a:ext uri="{FF2B5EF4-FFF2-40B4-BE49-F238E27FC236}">
                <a16:creationId xmlns:a16="http://schemas.microsoft.com/office/drawing/2014/main" id="{F0B31A66-25C8-0000-15EF-A92A4EF6C4B4}"/>
              </a:ext>
            </a:extLst>
          </p:cNvPr>
          <p:cNvSpPr txBox="1"/>
          <p:nvPr/>
        </p:nvSpPr>
        <p:spPr>
          <a:xfrm>
            <a:off x="20299344" y="17762827"/>
            <a:ext cx="8526416" cy="400110"/>
          </a:xfrm>
          <a:prstGeom prst="rect">
            <a:avLst/>
          </a:prstGeom>
          <a:noFill/>
        </p:spPr>
        <p:txBody>
          <a:bodyPr wrap="square" rtlCol="0">
            <a:spAutoFit/>
          </a:bodyPr>
          <a:lstStyle/>
          <a:p>
            <a:r>
              <a:rPr lang="en-US" sz="2000" b="1" dirty="0">
                <a:solidFill>
                  <a:srgbClr val="7030A0"/>
                </a:solidFill>
                <a:latin typeface="Arial" panose="020B0604020202020204" pitchFamily="34" charset="0"/>
                <a:cs typeface="Arial" panose="020B0604020202020204" pitchFamily="34" charset="0"/>
              </a:rPr>
              <a:t>Figure 2</a:t>
            </a:r>
            <a:r>
              <a:rPr lang="en-US" sz="2000" b="1" dirty="0">
                <a:solidFill>
                  <a:srgbClr val="3333FF"/>
                </a:solidFill>
                <a:latin typeface="Arial" panose="020B0604020202020204" pitchFamily="34" charset="0"/>
                <a:cs typeface="Arial" panose="020B0604020202020204" pitchFamily="34" charset="0"/>
              </a:rPr>
              <a:t>.</a:t>
            </a:r>
            <a:r>
              <a:rPr lang="en-US" sz="2000" dirty="0">
                <a:solidFill>
                  <a:srgbClr val="3333FF"/>
                </a:solidFill>
                <a:latin typeface="Arial" panose="020B0604020202020204" pitchFamily="34" charset="0"/>
                <a:cs typeface="Arial" panose="020B0604020202020204" pitchFamily="34" charset="0"/>
              </a:rPr>
              <a:t> </a:t>
            </a:r>
            <a:r>
              <a:rPr lang="en-US" sz="2000" kern="0" dirty="0">
                <a:effectLst/>
                <a:latin typeface="Arial" panose="020B0604020202020204" pitchFamily="34" charset="0"/>
                <a:ea typeface="Times New Roman" panose="02020603050405020304" pitchFamily="18" charset="0"/>
              </a:rPr>
              <a:t>Visual Representation of Credit Score accuracy(ROC Curve</a:t>
            </a:r>
            <a:r>
              <a:rPr lang="en-IN" sz="2000" dirty="0">
                <a:effectLst/>
              </a:rPr>
              <a:t> </a:t>
            </a:r>
            <a:endParaRPr lang="en-GB" sz="2000" dirty="0">
              <a:solidFill>
                <a:srgbClr val="3333FF"/>
              </a:solidFill>
              <a:latin typeface="Arial" panose="020B0604020202020204" pitchFamily="34" charset="0"/>
              <a:cs typeface="Arial" panose="020B0604020202020204" pitchFamily="34" charset="0"/>
            </a:endParaRPr>
          </a:p>
        </p:txBody>
      </p:sp>
      <p:pic>
        <p:nvPicPr>
          <p:cNvPr id="68" name="Picture 67">
            <a:extLst>
              <a:ext uri="{FF2B5EF4-FFF2-40B4-BE49-F238E27FC236}">
                <a16:creationId xmlns:a16="http://schemas.microsoft.com/office/drawing/2014/main" id="{00951A4D-9944-7C20-EAB1-C8C5AA4E60E0}"/>
              </a:ext>
            </a:extLst>
          </p:cNvPr>
          <p:cNvPicPr>
            <a:picLocks noChangeAspect="1"/>
          </p:cNvPicPr>
          <p:nvPr/>
        </p:nvPicPr>
        <p:blipFill rotWithShape="1">
          <a:blip r:embed="rId7">
            <a:extLst>
              <a:ext uri="{28A0092B-C50C-407E-A947-70E740481C1C}">
                <a14:useLocalDpi xmlns:a14="http://schemas.microsoft.com/office/drawing/2010/main" val="0"/>
              </a:ext>
            </a:extLst>
          </a:blip>
          <a:srcRect l="18117" t="49737" r="13907" b="3546"/>
          <a:stretch/>
        </p:blipFill>
        <p:spPr>
          <a:xfrm>
            <a:off x="26319101" y="12962342"/>
            <a:ext cx="5283299" cy="3559902"/>
          </a:xfrm>
          <a:prstGeom prst="rect">
            <a:avLst/>
          </a:prstGeom>
        </p:spPr>
      </p:pic>
      <p:pic>
        <p:nvPicPr>
          <p:cNvPr id="70" name="Picture 69">
            <a:extLst>
              <a:ext uri="{FF2B5EF4-FFF2-40B4-BE49-F238E27FC236}">
                <a16:creationId xmlns:a16="http://schemas.microsoft.com/office/drawing/2014/main" id="{A333B834-1BDD-C222-DB5A-341641DE72CF}"/>
              </a:ext>
            </a:extLst>
          </p:cNvPr>
          <p:cNvPicPr>
            <a:picLocks noChangeAspect="1"/>
          </p:cNvPicPr>
          <p:nvPr/>
        </p:nvPicPr>
        <p:blipFill rotWithShape="1">
          <a:blip r:embed="rId8">
            <a:extLst>
              <a:ext uri="{28A0092B-C50C-407E-A947-70E740481C1C}">
                <a14:useLocalDpi xmlns:a14="http://schemas.microsoft.com/office/drawing/2010/main" val="0"/>
              </a:ext>
            </a:extLst>
          </a:blip>
          <a:srcRect l="3552" r="17691"/>
          <a:stretch/>
        </p:blipFill>
        <p:spPr>
          <a:xfrm>
            <a:off x="21261156" y="12781464"/>
            <a:ext cx="4635110" cy="4619818"/>
          </a:xfrm>
          <a:prstGeom prst="rect">
            <a:avLst/>
          </a:prstGeom>
        </p:spPr>
      </p:pic>
      <p:pic>
        <p:nvPicPr>
          <p:cNvPr id="72" name="Picture 71">
            <a:extLst>
              <a:ext uri="{FF2B5EF4-FFF2-40B4-BE49-F238E27FC236}">
                <a16:creationId xmlns:a16="http://schemas.microsoft.com/office/drawing/2014/main" id="{673BDC07-FD33-FF06-4DBC-A2306393002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048636" y="12740052"/>
            <a:ext cx="5493284" cy="3754061"/>
          </a:xfrm>
          <a:prstGeom prst="rect">
            <a:avLst/>
          </a:prstGeom>
        </p:spPr>
      </p:pic>
      <p:sp>
        <p:nvSpPr>
          <p:cNvPr id="73" name="object 10">
            <a:extLst>
              <a:ext uri="{FF2B5EF4-FFF2-40B4-BE49-F238E27FC236}">
                <a16:creationId xmlns:a16="http://schemas.microsoft.com/office/drawing/2014/main" id="{FBF328AF-78F2-1B19-9B25-A4AC354262F5}"/>
              </a:ext>
            </a:extLst>
          </p:cNvPr>
          <p:cNvSpPr/>
          <p:nvPr/>
        </p:nvSpPr>
        <p:spPr>
          <a:xfrm>
            <a:off x="470697" y="43117197"/>
            <a:ext cx="31131703" cy="52281"/>
          </a:xfrm>
          <a:custGeom>
            <a:avLst/>
            <a:gdLst/>
            <a:ahLst/>
            <a:cxnLst/>
            <a:rect l="l" t="t" r="r" b="b"/>
            <a:pathLst>
              <a:path w="13387069">
                <a:moveTo>
                  <a:pt x="0" y="0"/>
                </a:moveTo>
                <a:lnTo>
                  <a:pt x="13386879" y="0"/>
                </a:lnTo>
              </a:path>
            </a:pathLst>
          </a:custGeom>
          <a:ln w="37949">
            <a:solidFill>
              <a:srgbClr val="4471C4"/>
            </a:solidFill>
          </a:ln>
        </p:spPr>
        <p:txBody>
          <a:bodyPr wrap="square" lIns="0" tIns="0" rIns="0" bIns="0" rtlCol="0"/>
          <a:lstStyle/>
          <a:p>
            <a:pPr algn="ctr"/>
            <a:endParaRPr sz="2800" dirty="0"/>
          </a:p>
        </p:txBody>
      </p:sp>
      <p:sp>
        <p:nvSpPr>
          <p:cNvPr id="74" name="Text Box 32">
            <a:extLst>
              <a:ext uri="{FF2B5EF4-FFF2-40B4-BE49-F238E27FC236}">
                <a16:creationId xmlns:a16="http://schemas.microsoft.com/office/drawing/2014/main" id="{91C166E7-035F-0248-8BDE-2631B280F3C1}"/>
              </a:ext>
            </a:extLst>
          </p:cNvPr>
          <p:cNvSpPr txBox="1">
            <a:spLocks noChangeArrowheads="1"/>
          </p:cNvSpPr>
          <p:nvPr/>
        </p:nvSpPr>
        <p:spPr bwMode="auto">
          <a:xfrm>
            <a:off x="15703000" y="39182016"/>
            <a:ext cx="1512691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5400" b="1" dirty="0">
                <a:solidFill>
                  <a:schemeClr val="accent2">
                    <a:lumMod val="60000"/>
                    <a:lumOff val="40000"/>
                  </a:schemeClr>
                </a:solidFill>
                <a:effectLst>
                  <a:outerShdw blurRad="38100" dist="38100" dir="2700000" algn="tl">
                    <a:srgbClr val="C0C0C0"/>
                  </a:outerShdw>
                </a:effectLst>
              </a:rPr>
              <a:t>References</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A7C1F89C8FE3F468A11EAB831C87530" ma:contentTypeVersion="16" ma:contentTypeDescription="Create a new document." ma:contentTypeScope="" ma:versionID="929cac9b7c223f1e832d6cb01c5430e7">
  <xsd:schema xmlns:xsd="http://www.w3.org/2001/XMLSchema" xmlns:xs="http://www.w3.org/2001/XMLSchema" xmlns:p="http://schemas.microsoft.com/office/2006/metadata/properties" xmlns:ns3="4e3678a2-4fc2-48fe-8bd4-6cebc3810546" xmlns:ns4="5385b540-20c0-4b1a-80a5-e7278ab87357" targetNamespace="http://schemas.microsoft.com/office/2006/metadata/properties" ma:root="true" ma:fieldsID="1f1489fdc3eb4d914ff54fa28bed2915" ns3:_="" ns4:_="">
    <xsd:import namespace="4e3678a2-4fc2-48fe-8bd4-6cebc3810546"/>
    <xsd:import namespace="5385b540-20c0-4b1a-80a5-e7278ab8735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Location" minOccurs="0"/>
                <xsd:element ref="ns3:MediaServiceOCR"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3678a2-4fc2-48fe-8bd4-6cebc3810546"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Tags" ma:index="10" nillable="true" ma:displayName="MediaServiceAutoTags" ma:description="" ma:internalName="MediaServiceAutoTags" ma:readOnly="true">
      <xsd:simpleType>
        <xsd:restriction base="dms:Text"/>
      </xsd:simpleType>
    </xsd:element>
    <xsd:element name="MediaServiceDateTaken" ma:index="11" nillable="true" ma:displayName="MediaServiceDateTaken" ma:description="" ma:hidden="true" ma:internalName="MediaServiceDateTaken" ma:readOnly="true">
      <xsd:simpleType>
        <xsd:restriction base="dms:Text"/>
      </xsd:simpleType>
    </xsd:element>
    <xsd:element name="MediaServiceLocation" ma:index="12" nillable="true" ma:displayName="MediaServiceLocation" ma:internalName="MediaServiceLocation"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85b540-20c0-4b1a-80a5-e7278ab8735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e3678a2-4fc2-48fe-8bd4-6cebc3810546" xsi:nil="true"/>
  </documentManagement>
</p:properties>
</file>

<file path=customXml/itemProps1.xml><?xml version="1.0" encoding="utf-8"?>
<ds:datastoreItem xmlns:ds="http://schemas.openxmlformats.org/officeDocument/2006/customXml" ds:itemID="{C91E4B7D-0615-48E4-8BFC-0694AD0600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3678a2-4fc2-48fe-8bd4-6cebc3810546"/>
    <ds:schemaRef ds:uri="5385b540-20c0-4b1a-80a5-e7278ab873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380A9CA-A1B9-4770-9BA2-3A470CA88448}">
  <ds:schemaRefs>
    <ds:schemaRef ds:uri="http://schemas.microsoft.com/sharepoint/v3/contenttype/forms"/>
  </ds:schemaRefs>
</ds:datastoreItem>
</file>

<file path=customXml/itemProps3.xml><?xml version="1.0" encoding="utf-8"?>
<ds:datastoreItem xmlns:ds="http://schemas.openxmlformats.org/officeDocument/2006/customXml" ds:itemID="{AD021FD0-0D45-4826-ACB6-61CD8BF92B20}">
  <ds:schemaRefs>
    <ds:schemaRef ds:uri="4e3678a2-4fc2-48fe-8bd4-6cebc3810546"/>
    <ds:schemaRef ds:uri="http://purl.org/dc/terms/"/>
    <ds:schemaRef ds:uri="5385b540-20c0-4b1a-80a5-e7278ab87357"/>
    <ds:schemaRef ds:uri="http://schemas.microsoft.com/office/infopath/2007/PartnerControls"/>
    <ds:schemaRef ds:uri="http://purl.org/dc/dcmitype/"/>
    <ds:schemaRef ds:uri="http://purl.org/dc/elements/1.1/"/>
    <ds:schemaRef ds:uri="http://schemas.microsoft.com/office/2006/documentManagement/types"/>
    <ds:schemaRef ds:uri="http://www.w3.org/XML/1998/namespace"/>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2573</TotalTime>
  <Words>2291</Words>
  <Application>Microsoft Macintosh PowerPoint</Application>
  <PresentationFormat>Custom</PresentationFormat>
  <Paragraphs>89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Symbol</vt:lpstr>
      <vt:lpstr>Times New Roman</vt:lpstr>
      <vt:lpstr>Default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F Gao</dc:creator>
  <cp:lastModifiedBy>Meet Patel</cp:lastModifiedBy>
  <cp:revision>70</cp:revision>
  <dcterms:created xsi:type="dcterms:W3CDTF">2006-05-24T16:40:51Z</dcterms:created>
  <dcterms:modified xsi:type="dcterms:W3CDTF">2023-10-19T12:24:45Z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0x0101005A7C1F89C8FE3F468A11EAB831C87530</vt:lpwstr>
  </property>
</Properties>
</file>